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2 de la réunion mensuelle E&amp;S UGP PAAEG-F / AFD, instituée le 9 juillet 2026. Objet : revue des suites données aux recommandations de la séance 1 et point sur l’EIES (ANO attendu).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Dérouler l’ordre du jour. Insister sur le point 3 : l’ANO sur l’EIES est la principale attente de l’UGP vis-à-vis de l’AFD à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4 livrables documentaires ont été cadrés : leurs plans (structures détaillées) ont été transmis à l’AFD. Demander à l’AFD un retour pour lancer la rédaction. Pour l’ONG reboisement : la contrainte saisonnière (juillet 2027) laisse le temps de bien sélectionner, la recherche est engagée.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L’EIES a été mise à jour pour intégrer la note Biotope du 28/07/2026 sur le nouveau tronçon de 10 km (contournement de la forêt classée de Diécké). Les pièces attendues (attestation AGEROUTE, attestation cartographique DNEF/OGUIPAR) pourront durcir les formulations en version finale sans bloquer le processus.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Chronologie à rappeler pour ancrer le fait que le reclassement en catégorie B est acquis : la condition posée le 13 mars (mission de terrain) a été satisfaite en juin, conclusions restituées le 28 juillet.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central de la séance : solliciter de l’AFD une visibilité sur le délai de l’ANO EIES. Sans ANO, la validation nationale (AGEE) ne peut être engagée, or elle conditionne le 1er décaissement de la Composante 1. Les attestations AGEROUTE et DNEF/OGUIPAR sont en cours de collecte mais ne bloquent pas l’ANO (formulations conservatoires).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volets de moyens : la MOE (équipe E&amp;S GOPATECH en cours de mobilisation) et l’ONG reboisement. Expliquer que la contrainte de juillet 2027 est saisonnière et non un retard : la recherche est engagée dès maintenant pour sécuriser la campagne.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Clore sur le relevé de décisions proposé. Les deux premières actions relèvent de l’AFD : retour sur les plans des documents et surtout l’ANO EIES (ligne mise en évidence). Confirmer la date de la séance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31A"/>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2C5F2D">
              <a:alpha val="28000"/>
            </a:srgbClr>
          </a:solidFill>
          <a:ln/>
        </p:spPr>
      </p:sp>
      <p:sp>
        <p:nvSpPr>
          <p:cNvPr id="3" name="Shape 1"/>
          <p:cNvSpPr/>
          <p:nvPr/>
        </p:nvSpPr>
        <p:spPr>
          <a:xfrm>
            <a:off x="10972800" y="3108960"/>
            <a:ext cx="3108960" cy="3108960"/>
          </a:xfrm>
          <a:prstGeom prst="ellipse">
            <a:avLst/>
          </a:prstGeom>
          <a:solidFill>
            <a:srgbClr val="2C5F2D">
              <a:alpha val="18000"/>
            </a:srgbClr>
          </a:solidFill>
          <a:ln/>
        </p:spPr>
      </p:sp>
      <p:sp>
        <p:nvSpPr>
          <p:cNvPr id="4" name="Shape 2"/>
          <p:cNvSpPr/>
          <p:nvPr/>
        </p:nvSpPr>
        <p:spPr>
          <a:xfrm>
            <a:off x="-1188720" y="5120640"/>
            <a:ext cx="3291840" cy="3291840"/>
          </a:xfrm>
          <a:prstGeom prst="ellipse">
            <a:avLst/>
          </a:prstGeom>
          <a:solidFill>
            <a:srgbClr val="2C5F2D">
              <a:alpha val="22000"/>
            </a:srgbClr>
          </a:solidFill>
          <a:ln/>
        </p:spPr>
      </p:sp>
      <p:sp>
        <p:nvSpPr>
          <p:cNvPr id="5" name="Shape 3"/>
          <p:cNvSpPr/>
          <p:nvPr/>
        </p:nvSpPr>
        <p:spPr>
          <a:xfrm>
            <a:off x="640080" y="685800"/>
            <a:ext cx="658368" cy="658368"/>
          </a:xfrm>
          <a:prstGeom prst="roundRect">
            <a:avLst>
              <a:gd name="adj" fmla="val 22000"/>
            </a:avLst>
          </a:prstGeom>
          <a:solidFill>
            <a:srgbClr val="2C5F2D"/>
          </a:solidFill>
          <a:ln/>
        </p:spPr>
      </p:sp>
      <p:pic>
        <p:nvPicPr>
          <p:cNvPr id="6" name="Image 0" descr="/tmp/claude-0/-home-user-ZION/aed2737c-8fe1-5a52-9c9c-85dc1ebe3ccb/scratchpad/icons/bolt-w.png">    </p:cNvPr>
          <p:cNvPicPr>
            <a:picLocks noChangeAspect="1"/>
          </p:cNvPicPr>
          <p:nvPr/>
        </p:nvPicPr>
        <p:blipFill>
          <a:blip r:embed="rId1"/>
          <a:stretch>
            <a:fillRect/>
          </a:stretch>
        </p:blipFill>
        <p:spPr>
          <a:xfrm>
            <a:off x="811256" y="856976"/>
            <a:ext cx="316017" cy="316017"/>
          </a:xfrm>
          <a:prstGeom prst="rect">
            <a:avLst/>
          </a:prstGeom>
        </p:spPr>
      </p:pic>
      <p:sp>
        <p:nvSpPr>
          <p:cNvPr id="7" name="Text 4"/>
          <p:cNvSpPr txBox="1"/>
          <p:nvPr/>
        </p:nvSpPr>
        <p:spPr>
          <a:xfrm>
            <a:off x="640080" y="1783080"/>
            <a:ext cx="8229600"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CONVENTION DE CRÉDIT AFD N° CGN 1361 01 P</a:t>
            </a:r>
            <a:endParaRPr lang="en-US" sz="1200" dirty="0"/>
          </a:p>
        </p:txBody>
      </p:sp>
      <p:sp>
        <p:nvSpPr>
          <p:cNvPr id="8" name="Text 5"/>
          <p:cNvSpPr txBox="1"/>
          <p:nvPr/>
        </p:nvSpPr>
        <p:spPr>
          <a:xfrm>
            <a:off x="640080" y="2103120"/>
            <a:ext cx="108813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Réunion mensuelle E&amp;S — Séance 2</a:t>
            </a:r>
            <a:endParaRPr lang="en-US" sz="4000" dirty="0"/>
          </a:p>
        </p:txBody>
      </p:sp>
      <p:sp>
        <p:nvSpPr>
          <p:cNvPr id="9" name="Text 6"/>
          <p:cNvSpPr txBox="1"/>
          <p:nvPr/>
        </p:nvSpPr>
        <p:spPr>
          <a:xfrm>
            <a:off x="640080" y="2907792"/>
            <a:ext cx="10058400" cy="685800"/>
          </a:xfrm>
          <a:prstGeom prst="rect">
            <a:avLst/>
          </a:prstGeom>
          <a:noFill/>
          <a:ln/>
        </p:spPr>
        <p:txBody>
          <a:bodyPr wrap="square" lIns="0" tIns="0" rIns="0" bIns="0" rtlCol="0" anchor="ctr"/>
          <a:lstStyle/>
          <a:p>
            <a:pPr indent="0" marL="0">
              <a:buNone/>
            </a:pPr>
            <a:r>
              <a:rPr lang="en-US" sz="1700" dirty="0">
                <a:solidFill>
                  <a:srgbClr val="D9E4D2"/>
                </a:solidFill>
                <a:latin typeface="Calibri" pitchFamily="34" charset="0"/>
                <a:ea typeface="Calibri" pitchFamily="34" charset="-122"/>
                <a:cs typeface="Calibri" pitchFamily="34" charset="-120"/>
              </a:rPr>
              <a:t>Point d’avancement de la mise en œuvre des mesures environnementales et sociales</a:t>
            </a:r>
            <a:endParaRPr lang="en-US" sz="1700" dirty="0"/>
          </a:p>
        </p:txBody>
      </p:sp>
      <p:sp>
        <p:nvSpPr>
          <p:cNvPr id="10" name="Text 7"/>
          <p:cNvSpPr txBox="1"/>
          <p:nvPr/>
        </p:nvSpPr>
        <p:spPr>
          <a:xfrm>
            <a:off x="640080" y="3611880"/>
            <a:ext cx="10058400" cy="320040"/>
          </a:xfrm>
          <a:prstGeom prst="rect">
            <a:avLst/>
          </a:prstGeom>
          <a:noFill/>
          <a:ln/>
        </p:spPr>
        <p:txBody>
          <a:bodyPr wrap="square" lIns="0" tIns="0" rIns="0" bIns="0" rtlCol="0" anchor="ctr"/>
          <a:lstStyle/>
          <a:p>
            <a:pPr indent="0" marL="0">
              <a:buNone/>
            </a:pPr>
            <a:r>
              <a:rPr lang="en-US" sz="1300" dirty="0">
                <a:solidFill>
                  <a:srgbClr val="9FB8A4"/>
                </a:solidFill>
                <a:latin typeface="Calibri" pitchFamily="34" charset="0"/>
                <a:ea typeface="Calibri" pitchFamily="34" charset="-122"/>
                <a:cs typeface="Calibri" pitchFamily="34" charset="-120"/>
              </a:rPr>
              <a:t>Programme d’Amélioration de l’Accès à l’Électricité en Guinée Forestière (PAAEGF)</a:t>
            </a:r>
            <a:endParaRPr lang="en-US" sz="1300" dirty="0"/>
          </a:p>
        </p:txBody>
      </p:sp>
      <p:sp>
        <p:nvSpPr>
          <p:cNvPr id="11" name="Shape 8"/>
          <p:cNvSpPr/>
          <p:nvPr/>
        </p:nvSpPr>
        <p:spPr>
          <a:xfrm>
            <a:off x="640080" y="4114800"/>
            <a:ext cx="5532120" cy="530352"/>
          </a:xfrm>
          <a:prstGeom prst="roundRect">
            <a:avLst>
              <a:gd name="adj" fmla="val 17241"/>
            </a:avLst>
          </a:prstGeom>
          <a:solidFill>
            <a:srgbClr val="2C5F2D"/>
          </a:solidFill>
          <a:ln/>
        </p:spPr>
      </p:sp>
      <p:sp>
        <p:nvSpPr>
          <p:cNvPr id="12" name="Text 9"/>
          <p:cNvSpPr txBox="1"/>
          <p:nvPr/>
        </p:nvSpPr>
        <p:spPr>
          <a:xfrm>
            <a:off x="868680" y="4114800"/>
            <a:ext cx="5303520" cy="53035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Jeudi 27 août 2026</a:t>
            </a:r>
            <a:pPr indent="0" marL="0">
              <a:buNone/>
            </a:pPr>
            <a:r>
              <a:rPr lang="en-US" sz="1400" dirty="0">
                <a:solidFill>
                  <a:srgbClr val="FFFFFF"/>
                </a:solidFill>
                <a:latin typeface="Calibri" pitchFamily="34" charset="0"/>
                <a:ea typeface="Calibri" pitchFamily="34" charset="-122"/>
                <a:cs typeface="Calibri" pitchFamily="34" charset="-120"/>
              </a:rPr>
              <a:t>   •   10 h 00   •   Visioconférence</a:t>
            </a:r>
            <a:endParaRPr lang="en-US" sz="1400" dirty="0"/>
          </a:p>
        </p:txBody>
      </p:sp>
      <p:sp>
        <p:nvSpPr>
          <p:cNvPr id="13" name="Text 10"/>
          <p:cNvSpPr txBox="1"/>
          <p:nvPr/>
        </p:nvSpPr>
        <p:spPr>
          <a:xfrm>
            <a:off x="640080" y="5623560"/>
            <a:ext cx="2606040" cy="237744"/>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EMPRUNTEUR</a:t>
            </a:r>
            <a:endParaRPr lang="en-US" sz="1000" dirty="0"/>
          </a:p>
        </p:txBody>
      </p:sp>
      <p:sp>
        <p:nvSpPr>
          <p:cNvPr id="14" name="Text 11"/>
          <p:cNvSpPr txBox="1"/>
          <p:nvPr/>
        </p:nvSpPr>
        <p:spPr>
          <a:xfrm>
            <a:off x="640080" y="5870448"/>
            <a:ext cx="260604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République de Guinée</a:t>
            </a:r>
            <a:endParaRPr lang="en-US" sz="1250" dirty="0"/>
          </a:p>
        </p:txBody>
      </p:sp>
      <p:sp>
        <p:nvSpPr>
          <p:cNvPr id="15" name="Text 12"/>
          <p:cNvSpPr txBox="1"/>
          <p:nvPr/>
        </p:nvSpPr>
        <p:spPr>
          <a:xfrm>
            <a:off x="3401568" y="5623560"/>
            <a:ext cx="2606040" cy="237744"/>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BÉNÉFICIAIRE FINAL</a:t>
            </a:r>
            <a:endParaRPr lang="en-US" sz="1000" dirty="0"/>
          </a:p>
        </p:txBody>
      </p:sp>
      <p:sp>
        <p:nvSpPr>
          <p:cNvPr id="16" name="Text 13"/>
          <p:cNvSpPr txBox="1"/>
          <p:nvPr/>
        </p:nvSpPr>
        <p:spPr>
          <a:xfrm>
            <a:off x="3401568" y="5870448"/>
            <a:ext cx="260604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Électricité de Guinée (EDG)</a:t>
            </a:r>
            <a:endParaRPr lang="en-US" sz="1250" dirty="0"/>
          </a:p>
        </p:txBody>
      </p:sp>
      <p:sp>
        <p:nvSpPr>
          <p:cNvPr id="17" name="Text 14"/>
          <p:cNvSpPr txBox="1"/>
          <p:nvPr/>
        </p:nvSpPr>
        <p:spPr>
          <a:xfrm>
            <a:off x="6163056" y="5623560"/>
            <a:ext cx="2606040" cy="237744"/>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BAILLEURS</a:t>
            </a:r>
            <a:endParaRPr lang="en-US" sz="1000" dirty="0"/>
          </a:p>
        </p:txBody>
      </p:sp>
      <p:sp>
        <p:nvSpPr>
          <p:cNvPr id="18" name="Text 15"/>
          <p:cNvSpPr txBox="1"/>
          <p:nvPr/>
        </p:nvSpPr>
        <p:spPr>
          <a:xfrm>
            <a:off x="6163056" y="5870448"/>
            <a:ext cx="260604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AFD / UE</a:t>
            </a:r>
            <a:endParaRPr lang="en-US" sz="1250" dirty="0"/>
          </a:p>
        </p:txBody>
      </p:sp>
      <p:sp>
        <p:nvSpPr>
          <p:cNvPr id="19" name="Text 16"/>
          <p:cNvSpPr txBox="1"/>
          <p:nvPr/>
        </p:nvSpPr>
        <p:spPr>
          <a:xfrm>
            <a:off x="8924544" y="5623560"/>
            <a:ext cx="2606040" cy="237744"/>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FINANCEMENT</a:t>
            </a:r>
            <a:endParaRPr lang="en-US" sz="1000" dirty="0"/>
          </a:p>
        </p:txBody>
      </p:sp>
      <p:sp>
        <p:nvSpPr>
          <p:cNvPr id="20" name="Text 17"/>
          <p:cNvSpPr txBox="1"/>
          <p:nvPr/>
        </p:nvSpPr>
        <p:spPr>
          <a:xfrm>
            <a:off x="8924544" y="5870448"/>
            <a:ext cx="260604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60 + 25 M EUR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47472"/>
            <a:ext cx="10911535"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SÉANCE DU 27 AOÛT 2026</a:t>
            </a:r>
            <a:endParaRPr lang="en-US" sz="12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Ordre du jour</a:t>
            </a:r>
            <a:endParaRPr lang="en-US" sz="2800" dirty="0"/>
          </a:p>
        </p:txBody>
      </p:sp>
      <p:sp>
        <p:nvSpPr>
          <p:cNvPr id="4" name="Shape 2"/>
          <p:cNvSpPr/>
          <p:nvPr/>
        </p:nvSpPr>
        <p:spPr>
          <a:xfrm>
            <a:off x="640080" y="1481328"/>
            <a:ext cx="10911535" cy="713232"/>
          </a:xfrm>
          <a:prstGeom prst="roundRect">
            <a:avLst>
              <a:gd name="adj" fmla="val 11538"/>
            </a:avLst>
          </a:prstGeom>
          <a:solidFill>
            <a:srgbClr val="F4F7EF"/>
          </a:solidFill>
          <a:ln/>
        </p:spPr>
      </p:sp>
      <p:sp>
        <p:nvSpPr>
          <p:cNvPr id="5" name="Shape 3"/>
          <p:cNvSpPr/>
          <p:nvPr/>
        </p:nvSpPr>
        <p:spPr>
          <a:xfrm>
            <a:off x="841248" y="1636776"/>
            <a:ext cx="402336" cy="402336"/>
          </a:xfrm>
          <a:prstGeom prst="ellipse">
            <a:avLst/>
          </a:prstGeom>
          <a:solidFill>
            <a:srgbClr val="2C5F2D"/>
          </a:solidFill>
          <a:ln/>
        </p:spPr>
      </p:sp>
      <p:sp>
        <p:nvSpPr>
          <p:cNvPr id="6" name="Text 4"/>
          <p:cNvSpPr txBox="1"/>
          <p:nvPr/>
        </p:nvSpPr>
        <p:spPr>
          <a:xfrm>
            <a:off x="841248" y="1618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463040" y="1563624"/>
            <a:ext cx="9692640" cy="292608"/>
          </a:xfrm>
          <a:prstGeom prst="rect">
            <a:avLst/>
          </a:prstGeom>
          <a:noFill/>
          <a:ln/>
        </p:spPr>
        <p:txBody>
          <a:bodyPr wrap="square" lIns="0" tIns="0" rIns="0" bIns="0" rtlCol="0" anchor="ctr"/>
          <a:lstStyle/>
          <a:p>
            <a:pPr indent="0" marL="0">
              <a:buNone/>
            </a:pPr>
            <a:r>
              <a:rPr lang="en-US" sz="1550" b="1" dirty="0">
                <a:solidFill>
                  <a:srgbClr val="2C5F2D"/>
                </a:solidFill>
                <a:latin typeface="Cambria" pitchFamily="34" charset="0"/>
                <a:ea typeface="Cambria" pitchFamily="34" charset="-122"/>
                <a:cs typeface="Cambria" pitchFamily="34" charset="-120"/>
              </a:rPr>
              <a:t>Suivi des recommandations de la séance 1</a:t>
            </a:r>
            <a:endParaRPr lang="en-US" sz="1550" dirty="0"/>
          </a:p>
        </p:txBody>
      </p:sp>
      <p:sp>
        <p:nvSpPr>
          <p:cNvPr id="8" name="Text 6"/>
          <p:cNvSpPr txBox="1"/>
          <p:nvPr/>
        </p:nvSpPr>
        <p:spPr>
          <a:xfrm>
            <a:off x="1463040" y="1856232"/>
            <a:ext cx="9692640" cy="274320"/>
          </a:xfrm>
          <a:prstGeom prst="rect">
            <a:avLst/>
          </a:prstGeom>
          <a:noFill/>
          <a:ln/>
        </p:spPr>
        <p:txBody>
          <a:bodyPr wrap="square" lIns="0" tIns="0" rIns="0" bIns="0" rtlCol="0" anchor="ctr"/>
          <a:lstStyle/>
          <a:p>
            <a:pPr indent="0" marL="0">
              <a:buNone/>
            </a:pPr>
            <a:r>
              <a:rPr lang="en-US" sz="1200" dirty="0">
                <a:solidFill>
                  <a:srgbClr val="6B7A6E"/>
                </a:solidFill>
                <a:latin typeface="Calibri" pitchFamily="34" charset="0"/>
                <a:ea typeface="Calibri" pitchFamily="34" charset="-122"/>
                <a:cs typeface="Calibri" pitchFamily="34" charset="-120"/>
              </a:rPr>
              <a:t>Restitution des cinq actions arrêtées le 9 juillet 2026</a:t>
            </a:r>
            <a:endParaRPr lang="en-US" sz="1200" dirty="0"/>
          </a:p>
        </p:txBody>
      </p:sp>
      <p:sp>
        <p:nvSpPr>
          <p:cNvPr id="9" name="Shape 7"/>
          <p:cNvSpPr/>
          <p:nvPr/>
        </p:nvSpPr>
        <p:spPr>
          <a:xfrm>
            <a:off x="640080" y="2313432"/>
            <a:ext cx="10911535" cy="713232"/>
          </a:xfrm>
          <a:prstGeom prst="roundRect">
            <a:avLst>
              <a:gd name="adj" fmla="val 11538"/>
            </a:avLst>
          </a:prstGeom>
          <a:solidFill>
            <a:srgbClr val="F4F7EF"/>
          </a:solidFill>
          <a:ln/>
        </p:spPr>
      </p:sp>
      <p:sp>
        <p:nvSpPr>
          <p:cNvPr id="10" name="Shape 8"/>
          <p:cNvSpPr/>
          <p:nvPr/>
        </p:nvSpPr>
        <p:spPr>
          <a:xfrm>
            <a:off x="841248" y="2468880"/>
            <a:ext cx="402336" cy="402336"/>
          </a:xfrm>
          <a:prstGeom prst="ellipse">
            <a:avLst/>
          </a:prstGeom>
          <a:solidFill>
            <a:srgbClr val="2C5F2D"/>
          </a:solidFill>
          <a:ln/>
        </p:spPr>
      </p:sp>
      <p:sp>
        <p:nvSpPr>
          <p:cNvPr id="11" name="Text 9"/>
          <p:cNvSpPr txBox="1"/>
          <p:nvPr/>
        </p:nvSpPr>
        <p:spPr>
          <a:xfrm>
            <a:off x="841248" y="2450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463040" y="2395728"/>
            <a:ext cx="9692640" cy="292608"/>
          </a:xfrm>
          <a:prstGeom prst="rect">
            <a:avLst/>
          </a:prstGeom>
          <a:noFill/>
          <a:ln/>
        </p:spPr>
        <p:txBody>
          <a:bodyPr wrap="square" lIns="0" tIns="0" rIns="0" bIns="0" rtlCol="0" anchor="ctr"/>
          <a:lstStyle/>
          <a:p>
            <a:pPr indent="0" marL="0">
              <a:buNone/>
            </a:pPr>
            <a:r>
              <a:rPr lang="en-US" sz="1550" b="1" dirty="0">
                <a:solidFill>
                  <a:srgbClr val="2C5F2D"/>
                </a:solidFill>
                <a:latin typeface="Cambria" pitchFamily="34" charset="0"/>
                <a:ea typeface="Cambria" pitchFamily="34" charset="-122"/>
                <a:cs typeface="Cambria" pitchFamily="34" charset="-120"/>
              </a:rPr>
              <a:t>Point EIES — actualisation du rapport</a:t>
            </a:r>
            <a:endParaRPr lang="en-US" sz="1550" dirty="0"/>
          </a:p>
        </p:txBody>
      </p:sp>
      <p:sp>
        <p:nvSpPr>
          <p:cNvPr id="13" name="Text 11"/>
          <p:cNvSpPr txBox="1"/>
          <p:nvPr/>
        </p:nvSpPr>
        <p:spPr>
          <a:xfrm>
            <a:off x="1463040" y="2688336"/>
            <a:ext cx="9692640" cy="274320"/>
          </a:xfrm>
          <a:prstGeom prst="rect">
            <a:avLst/>
          </a:prstGeom>
          <a:noFill/>
          <a:ln/>
        </p:spPr>
        <p:txBody>
          <a:bodyPr wrap="square" lIns="0" tIns="0" rIns="0" bIns="0" rtlCol="0" anchor="ctr"/>
          <a:lstStyle/>
          <a:p>
            <a:pPr indent="0" marL="0">
              <a:buNone/>
            </a:pPr>
            <a:r>
              <a:rPr lang="en-US" sz="1200" dirty="0">
                <a:solidFill>
                  <a:srgbClr val="6B7A6E"/>
                </a:solidFill>
                <a:latin typeface="Calibri" pitchFamily="34" charset="0"/>
                <a:ea typeface="Calibri" pitchFamily="34" charset="-122"/>
                <a:cs typeface="Calibri" pitchFamily="34" charset="-120"/>
              </a:rPr>
              <a:t>Intégration de la note Biotope (tronçon Nonah – Gbamou) et reclassement en catégorie B</a:t>
            </a:r>
            <a:endParaRPr lang="en-US" sz="1200" dirty="0"/>
          </a:p>
        </p:txBody>
      </p:sp>
      <p:sp>
        <p:nvSpPr>
          <p:cNvPr id="14" name="Shape 12"/>
          <p:cNvSpPr/>
          <p:nvPr/>
        </p:nvSpPr>
        <p:spPr>
          <a:xfrm>
            <a:off x="640080" y="3145536"/>
            <a:ext cx="10911535" cy="713232"/>
          </a:xfrm>
          <a:prstGeom prst="roundRect">
            <a:avLst>
              <a:gd name="adj" fmla="val 11538"/>
            </a:avLst>
          </a:prstGeom>
          <a:solidFill>
            <a:srgbClr val="F4F7EF"/>
          </a:solidFill>
          <a:ln/>
        </p:spPr>
      </p:sp>
      <p:sp>
        <p:nvSpPr>
          <p:cNvPr id="15" name="Shape 13"/>
          <p:cNvSpPr/>
          <p:nvPr/>
        </p:nvSpPr>
        <p:spPr>
          <a:xfrm>
            <a:off x="841248" y="3300984"/>
            <a:ext cx="402336" cy="402336"/>
          </a:xfrm>
          <a:prstGeom prst="ellipse">
            <a:avLst/>
          </a:prstGeom>
          <a:solidFill>
            <a:srgbClr val="2C5F2D"/>
          </a:solidFill>
          <a:ln/>
        </p:spPr>
      </p:sp>
      <p:sp>
        <p:nvSpPr>
          <p:cNvPr id="16" name="Text 14"/>
          <p:cNvSpPr txBox="1"/>
          <p:nvPr/>
        </p:nvSpPr>
        <p:spPr>
          <a:xfrm>
            <a:off x="841248" y="32826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463040" y="3227832"/>
            <a:ext cx="9692640" cy="292608"/>
          </a:xfrm>
          <a:prstGeom prst="rect">
            <a:avLst/>
          </a:prstGeom>
          <a:noFill/>
          <a:ln/>
        </p:spPr>
        <p:txBody>
          <a:bodyPr wrap="square" lIns="0" tIns="0" rIns="0" bIns="0" rtlCol="0" anchor="ctr"/>
          <a:lstStyle/>
          <a:p>
            <a:pPr indent="0" marL="0">
              <a:buNone/>
            </a:pPr>
            <a:r>
              <a:rPr lang="en-US" sz="1550" b="1" dirty="0">
                <a:solidFill>
                  <a:srgbClr val="2C5F2D"/>
                </a:solidFill>
                <a:latin typeface="Cambria" pitchFamily="34" charset="0"/>
                <a:ea typeface="Cambria" pitchFamily="34" charset="-122"/>
                <a:cs typeface="Cambria" pitchFamily="34" charset="-120"/>
              </a:rPr>
              <a:t>Point d’attention majeur</a:t>
            </a:r>
            <a:endParaRPr lang="en-US" sz="1550" dirty="0"/>
          </a:p>
        </p:txBody>
      </p:sp>
      <p:sp>
        <p:nvSpPr>
          <p:cNvPr id="18" name="Text 16"/>
          <p:cNvSpPr txBox="1"/>
          <p:nvPr/>
        </p:nvSpPr>
        <p:spPr>
          <a:xfrm>
            <a:off x="1463040" y="3520440"/>
            <a:ext cx="9692640" cy="274320"/>
          </a:xfrm>
          <a:prstGeom prst="rect">
            <a:avLst/>
          </a:prstGeom>
          <a:noFill/>
          <a:ln/>
        </p:spPr>
        <p:txBody>
          <a:bodyPr wrap="square" lIns="0" tIns="0" rIns="0" bIns="0" rtlCol="0" anchor="ctr"/>
          <a:lstStyle/>
          <a:p>
            <a:pPr indent="0" marL="0">
              <a:buNone/>
            </a:pPr>
            <a:r>
              <a:rPr lang="en-US" sz="1200" dirty="0">
                <a:solidFill>
                  <a:srgbClr val="6B7A6E"/>
                </a:solidFill>
                <a:latin typeface="Calibri" pitchFamily="34" charset="0"/>
                <a:ea typeface="Calibri" pitchFamily="34" charset="-122"/>
                <a:cs typeface="Calibri" pitchFamily="34" charset="-120"/>
              </a:rPr>
              <a:t>Avis de non-objection sur l’EIES pour engager la validation nationale</a:t>
            </a:r>
            <a:endParaRPr lang="en-US" sz="1200" dirty="0"/>
          </a:p>
        </p:txBody>
      </p:sp>
      <p:sp>
        <p:nvSpPr>
          <p:cNvPr id="19" name="Shape 17"/>
          <p:cNvSpPr/>
          <p:nvPr/>
        </p:nvSpPr>
        <p:spPr>
          <a:xfrm>
            <a:off x="640080" y="3977640"/>
            <a:ext cx="10911535" cy="713232"/>
          </a:xfrm>
          <a:prstGeom prst="roundRect">
            <a:avLst>
              <a:gd name="adj" fmla="val 11538"/>
            </a:avLst>
          </a:prstGeom>
          <a:solidFill>
            <a:srgbClr val="F4F7EF"/>
          </a:solidFill>
          <a:ln/>
        </p:spPr>
      </p:sp>
      <p:sp>
        <p:nvSpPr>
          <p:cNvPr id="20" name="Shape 18"/>
          <p:cNvSpPr/>
          <p:nvPr/>
        </p:nvSpPr>
        <p:spPr>
          <a:xfrm>
            <a:off x="841248" y="4133088"/>
            <a:ext cx="402336" cy="402336"/>
          </a:xfrm>
          <a:prstGeom prst="ellipse">
            <a:avLst/>
          </a:prstGeom>
          <a:solidFill>
            <a:srgbClr val="2C5F2D"/>
          </a:solidFill>
          <a:ln/>
        </p:spPr>
      </p:sp>
      <p:sp>
        <p:nvSpPr>
          <p:cNvPr id="21" name="Text 19"/>
          <p:cNvSpPr txBox="1"/>
          <p:nvPr/>
        </p:nvSpPr>
        <p:spPr>
          <a:xfrm>
            <a:off x="841248" y="41148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1463040" y="4059936"/>
            <a:ext cx="9692640" cy="292608"/>
          </a:xfrm>
          <a:prstGeom prst="rect">
            <a:avLst/>
          </a:prstGeom>
          <a:noFill/>
          <a:ln/>
        </p:spPr>
        <p:txBody>
          <a:bodyPr wrap="square" lIns="0" tIns="0" rIns="0" bIns="0" rtlCol="0" anchor="ctr"/>
          <a:lstStyle/>
          <a:p>
            <a:pPr indent="0" marL="0">
              <a:buNone/>
            </a:pPr>
            <a:r>
              <a:rPr lang="en-US" sz="1550" b="1" dirty="0">
                <a:solidFill>
                  <a:srgbClr val="2C5F2D"/>
                </a:solidFill>
                <a:latin typeface="Cambria" pitchFamily="34" charset="0"/>
                <a:ea typeface="Cambria" pitchFamily="34" charset="-122"/>
                <a:cs typeface="Cambria" pitchFamily="34" charset="-120"/>
              </a:rPr>
              <a:t>Mobilisation de l’équipe E&amp;S de la MOE</a:t>
            </a:r>
            <a:endParaRPr lang="en-US" sz="1550" dirty="0"/>
          </a:p>
        </p:txBody>
      </p:sp>
      <p:sp>
        <p:nvSpPr>
          <p:cNvPr id="23" name="Text 21"/>
          <p:cNvSpPr txBox="1"/>
          <p:nvPr/>
        </p:nvSpPr>
        <p:spPr>
          <a:xfrm>
            <a:off x="1463040" y="4352544"/>
            <a:ext cx="9692640" cy="274320"/>
          </a:xfrm>
          <a:prstGeom prst="rect">
            <a:avLst/>
          </a:prstGeom>
          <a:noFill/>
          <a:ln/>
        </p:spPr>
        <p:txBody>
          <a:bodyPr wrap="square" lIns="0" tIns="0" rIns="0" bIns="0" rtlCol="0" anchor="ctr"/>
          <a:lstStyle/>
          <a:p>
            <a:pPr indent="0" marL="0">
              <a:buNone/>
            </a:pPr>
            <a:r>
              <a:rPr lang="en-US" sz="1200" dirty="0">
                <a:solidFill>
                  <a:srgbClr val="6B7A6E"/>
                </a:solidFill>
                <a:latin typeface="Calibri" pitchFamily="34" charset="0"/>
                <a:ea typeface="Calibri" pitchFamily="34" charset="-122"/>
                <a:cs typeface="Calibri" pitchFamily="34" charset="-120"/>
              </a:rPr>
              <a:t>État de la mobilisation des experts GOPATECH</a:t>
            </a:r>
            <a:endParaRPr lang="en-US" sz="1200" dirty="0"/>
          </a:p>
        </p:txBody>
      </p:sp>
      <p:sp>
        <p:nvSpPr>
          <p:cNvPr id="24" name="Shape 22"/>
          <p:cNvSpPr/>
          <p:nvPr/>
        </p:nvSpPr>
        <p:spPr>
          <a:xfrm>
            <a:off x="640080" y="4809744"/>
            <a:ext cx="10911535" cy="713232"/>
          </a:xfrm>
          <a:prstGeom prst="roundRect">
            <a:avLst>
              <a:gd name="adj" fmla="val 11538"/>
            </a:avLst>
          </a:prstGeom>
          <a:solidFill>
            <a:srgbClr val="F4F7EF"/>
          </a:solidFill>
          <a:ln/>
        </p:spPr>
      </p:sp>
      <p:sp>
        <p:nvSpPr>
          <p:cNvPr id="25" name="Shape 23"/>
          <p:cNvSpPr/>
          <p:nvPr/>
        </p:nvSpPr>
        <p:spPr>
          <a:xfrm>
            <a:off x="841248" y="4965192"/>
            <a:ext cx="402336" cy="402336"/>
          </a:xfrm>
          <a:prstGeom prst="ellipse">
            <a:avLst/>
          </a:prstGeom>
          <a:solidFill>
            <a:srgbClr val="2C5F2D"/>
          </a:solidFill>
          <a:ln/>
        </p:spPr>
      </p:sp>
      <p:sp>
        <p:nvSpPr>
          <p:cNvPr id="26" name="Text 24"/>
          <p:cNvSpPr txBox="1"/>
          <p:nvPr/>
        </p:nvSpPr>
        <p:spPr>
          <a:xfrm>
            <a:off x="841248" y="4946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1463040" y="4892040"/>
            <a:ext cx="9692640" cy="292608"/>
          </a:xfrm>
          <a:prstGeom prst="rect">
            <a:avLst/>
          </a:prstGeom>
          <a:noFill/>
          <a:ln/>
        </p:spPr>
        <p:txBody>
          <a:bodyPr wrap="square" lIns="0" tIns="0" rIns="0" bIns="0" rtlCol="0" anchor="ctr"/>
          <a:lstStyle/>
          <a:p>
            <a:pPr indent="0" marL="0">
              <a:buNone/>
            </a:pPr>
            <a:r>
              <a:rPr lang="en-US" sz="1550" b="1" dirty="0">
                <a:solidFill>
                  <a:srgbClr val="2C5F2D"/>
                </a:solidFill>
                <a:latin typeface="Cambria" pitchFamily="34" charset="0"/>
                <a:ea typeface="Cambria" pitchFamily="34" charset="-122"/>
                <a:cs typeface="Cambria" pitchFamily="34" charset="-120"/>
              </a:rPr>
              <a:t>Reboisement compensatoire (PAB)</a:t>
            </a:r>
            <a:endParaRPr lang="en-US" sz="1550" dirty="0"/>
          </a:p>
        </p:txBody>
      </p:sp>
      <p:sp>
        <p:nvSpPr>
          <p:cNvPr id="28" name="Text 26"/>
          <p:cNvSpPr txBox="1"/>
          <p:nvPr/>
        </p:nvSpPr>
        <p:spPr>
          <a:xfrm>
            <a:off x="1463040" y="5184648"/>
            <a:ext cx="9692640" cy="274320"/>
          </a:xfrm>
          <a:prstGeom prst="rect">
            <a:avLst/>
          </a:prstGeom>
          <a:noFill/>
          <a:ln/>
        </p:spPr>
        <p:txBody>
          <a:bodyPr wrap="square" lIns="0" tIns="0" rIns="0" bIns="0" rtlCol="0" anchor="ctr"/>
          <a:lstStyle/>
          <a:p>
            <a:pPr indent="0" marL="0">
              <a:buNone/>
            </a:pPr>
            <a:r>
              <a:rPr lang="en-US" sz="1200" dirty="0">
                <a:solidFill>
                  <a:srgbClr val="6B7A6E"/>
                </a:solidFill>
                <a:latin typeface="Calibri" pitchFamily="34" charset="0"/>
                <a:ea typeface="Calibri" pitchFamily="34" charset="-122"/>
                <a:cs typeface="Calibri" pitchFamily="34" charset="-120"/>
              </a:rPr>
              <a:t>Fenêtre saisonnière juillet 2027 et recherche de l’ONG</a:t>
            </a:r>
            <a:endParaRPr lang="en-US" sz="1200" dirty="0"/>
          </a:p>
        </p:txBody>
      </p:sp>
      <p:sp>
        <p:nvSpPr>
          <p:cNvPr id="29" name="Shape 27"/>
          <p:cNvSpPr/>
          <p:nvPr/>
        </p:nvSpPr>
        <p:spPr>
          <a:xfrm>
            <a:off x="640080" y="5641848"/>
            <a:ext cx="10911535" cy="713232"/>
          </a:xfrm>
          <a:prstGeom prst="roundRect">
            <a:avLst>
              <a:gd name="adj" fmla="val 11538"/>
            </a:avLst>
          </a:prstGeom>
          <a:solidFill>
            <a:srgbClr val="F4F7EF"/>
          </a:solidFill>
          <a:ln/>
        </p:spPr>
      </p:sp>
      <p:sp>
        <p:nvSpPr>
          <p:cNvPr id="30" name="Shape 28"/>
          <p:cNvSpPr/>
          <p:nvPr/>
        </p:nvSpPr>
        <p:spPr>
          <a:xfrm>
            <a:off x="841248" y="5797296"/>
            <a:ext cx="402336" cy="402336"/>
          </a:xfrm>
          <a:prstGeom prst="ellipse">
            <a:avLst/>
          </a:prstGeom>
          <a:solidFill>
            <a:srgbClr val="2C5F2D"/>
          </a:solidFill>
          <a:ln/>
        </p:spPr>
      </p:sp>
      <p:sp>
        <p:nvSpPr>
          <p:cNvPr id="31" name="Text 29"/>
          <p:cNvSpPr txBox="1"/>
          <p:nvPr/>
        </p:nvSpPr>
        <p:spPr>
          <a:xfrm>
            <a:off x="841248" y="5779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txBox="1"/>
          <p:nvPr/>
        </p:nvSpPr>
        <p:spPr>
          <a:xfrm>
            <a:off x="1463040" y="5724144"/>
            <a:ext cx="9692640" cy="292608"/>
          </a:xfrm>
          <a:prstGeom prst="rect">
            <a:avLst/>
          </a:prstGeom>
          <a:noFill/>
          <a:ln/>
        </p:spPr>
        <p:txBody>
          <a:bodyPr wrap="square" lIns="0" tIns="0" rIns="0" bIns="0" rtlCol="0" anchor="ctr"/>
          <a:lstStyle/>
          <a:p>
            <a:pPr indent="0" marL="0">
              <a:buNone/>
            </a:pPr>
            <a:r>
              <a:rPr lang="en-US" sz="1550" b="1" dirty="0">
                <a:solidFill>
                  <a:srgbClr val="2C5F2D"/>
                </a:solidFill>
                <a:latin typeface="Cambria" pitchFamily="34" charset="0"/>
                <a:ea typeface="Cambria" pitchFamily="34" charset="-122"/>
                <a:cs typeface="Cambria" pitchFamily="34" charset="-120"/>
              </a:rPr>
              <a:t>Décisions et prochaines étapes</a:t>
            </a:r>
            <a:endParaRPr lang="en-US" sz="1550" dirty="0"/>
          </a:p>
        </p:txBody>
      </p:sp>
      <p:sp>
        <p:nvSpPr>
          <p:cNvPr id="33" name="Text 31"/>
          <p:cNvSpPr txBox="1"/>
          <p:nvPr/>
        </p:nvSpPr>
        <p:spPr>
          <a:xfrm>
            <a:off x="1463040" y="6016752"/>
            <a:ext cx="9692640" cy="274320"/>
          </a:xfrm>
          <a:prstGeom prst="rect">
            <a:avLst/>
          </a:prstGeom>
          <a:noFill/>
          <a:ln/>
        </p:spPr>
        <p:txBody>
          <a:bodyPr wrap="square" lIns="0" tIns="0" rIns="0" bIns="0" rtlCol="0" anchor="ctr"/>
          <a:lstStyle/>
          <a:p>
            <a:pPr indent="0" marL="0">
              <a:buNone/>
            </a:pPr>
            <a:r>
              <a:rPr lang="en-US" sz="1200" dirty="0">
                <a:solidFill>
                  <a:srgbClr val="6B7A6E"/>
                </a:solidFill>
                <a:latin typeface="Calibri" pitchFamily="34" charset="0"/>
                <a:ea typeface="Calibri" pitchFamily="34" charset="-122"/>
                <a:cs typeface="Calibri" pitchFamily="34" charset="-120"/>
              </a:rPr>
              <a:t>Actions, responsables et échéances — prochaine session</a:t>
            </a:r>
            <a:endParaRPr lang="en-US" sz="1200" dirty="0"/>
          </a:p>
        </p:txBody>
      </p:sp>
      <p:sp>
        <p:nvSpPr>
          <p:cNvPr id="34" name="Text 32"/>
          <p:cNvSpPr txBox="1"/>
          <p:nvPr/>
        </p:nvSpPr>
        <p:spPr>
          <a:xfrm>
            <a:off x="640080" y="6446520"/>
            <a:ext cx="4572000" cy="274320"/>
          </a:xfrm>
          <a:prstGeom prst="rect">
            <a:avLst/>
          </a:prstGeom>
          <a:noFill/>
          <a:ln/>
        </p:spPr>
        <p:txBody>
          <a:bodyPr wrap="square" lIns="0" tIns="0" rIns="0" bIns="0" rtlCol="0" anchor="ctr"/>
          <a:lstStyle/>
          <a:p>
            <a:pPr algn="l" indent="0" marL="0">
              <a:buNone/>
            </a:pPr>
            <a:r>
              <a:rPr lang="en-US" sz="1000" dirty="0">
                <a:solidFill>
                  <a:srgbClr val="6B7A6E"/>
                </a:solidFill>
                <a:latin typeface="Calibri" pitchFamily="34" charset="0"/>
                <a:ea typeface="Calibri" pitchFamily="34" charset="-122"/>
                <a:cs typeface="Calibri" pitchFamily="34" charset="-120"/>
              </a:rPr>
              <a:t>PAAEGF • Volet E&amp;S — Réunion mensuelle № 2</a:t>
            </a:r>
            <a:endParaRPr lang="en-US" sz="1000" dirty="0"/>
          </a:p>
        </p:txBody>
      </p:sp>
      <p:sp>
        <p:nvSpPr>
          <p:cNvPr id="35" name="Text 33"/>
          <p:cNvSpPr txBox="1"/>
          <p:nvPr/>
        </p:nvSpPr>
        <p:spPr>
          <a:xfrm>
            <a:off x="11002975" y="6446520"/>
            <a:ext cx="548640" cy="274320"/>
          </a:xfrm>
          <a:prstGeom prst="rect">
            <a:avLst/>
          </a:prstGeom>
          <a:noFill/>
          <a:ln/>
        </p:spPr>
        <p:txBody>
          <a:bodyPr wrap="square" lIns="0" tIns="0" rIns="0" bIns="0" rtlCol="0" anchor="ctr"/>
          <a:lstStyle/>
          <a:p>
            <a:pPr algn="r" indent="0" marL="0">
              <a:buNone/>
            </a:pPr>
            <a:r>
              <a:rPr lang="en-US" sz="1000" dirty="0">
                <a:solidFill>
                  <a:srgbClr val="6B7A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47472"/>
            <a:ext cx="10911535"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SUIVI DES RECOMMANDATIONS — SÉANCE 1 (09/07/2026)</a:t>
            </a:r>
            <a:endParaRPr lang="en-US" sz="12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État d’avancement des cinq actions</a:t>
            </a:r>
            <a:endParaRPr lang="en-US" sz="2800" dirty="0"/>
          </a:p>
        </p:txBody>
      </p:sp>
      <p:sp>
        <p:nvSpPr>
          <p:cNvPr id="4" name="Text 2"/>
          <p:cNvSpPr txBox="1"/>
          <p:nvPr/>
        </p:nvSpPr>
        <p:spPr>
          <a:xfrm>
            <a:off x="1207008" y="1389888"/>
            <a:ext cx="4343400" cy="237744"/>
          </a:xfrm>
          <a:prstGeom prst="rect">
            <a:avLst/>
          </a:prstGeom>
          <a:noFill/>
          <a:ln/>
        </p:spPr>
        <p:txBody>
          <a:bodyPr wrap="square" lIns="0" tIns="0" rIns="0" bIns="0" rtlCol="0" anchor="ctr"/>
          <a:lstStyle/>
          <a:p>
            <a:pPr indent="0" marL="0">
              <a:buNone/>
            </a:pPr>
            <a:r>
              <a:rPr lang="en-US" sz="1000" b="1" spc="200" kern="0" dirty="0">
                <a:solidFill>
                  <a:srgbClr val="6B7A6E"/>
                </a:solidFill>
                <a:latin typeface="Calibri" pitchFamily="34" charset="0"/>
                <a:ea typeface="Calibri" pitchFamily="34" charset="-122"/>
                <a:cs typeface="Calibri" pitchFamily="34" charset="-120"/>
              </a:rPr>
              <a:t>ACTION ARRÊTÉE LE 09/07</a:t>
            </a:r>
            <a:endParaRPr lang="en-US" sz="1000" dirty="0"/>
          </a:p>
        </p:txBody>
      </p:sp>
      <p:sp>
        <p:nvSpPr>
          <p:cNvPr id="5" name="Text 3"/>
          <p:cNvSpPr txBox="1"/>
          <p:nvPr/>
        </p:nvSpPr>
        <p:spPr>
          <a:xfrm>
            <a:off x="5733288" y="1389888"/>
            <a:ext cx="3520440" cy="237744"/>
          </a:xfrm>
          <a:prstGeom prst="rect">
            <a:avLst/>
          </a:prstGeom>
          <a:noFill/>
          <a:ln/>
        </p:spPr>
        <p:txBody>
          <a:bodyPr wrap="square" lIns="0" tIns="0" rIns="0" bIns="0" rtlCol="0" anchor="ctr"/>
          <a:lstStyle/>
          <a:p>
            <a:pPr indent="0" marL="0">
              <a:buNone/>
            </a:pPr>
            <a:r>
              <a:rPr lang="en-US" sz="1000" b="1" spc="200" kern="0" dirty="0">
                <a:solidFill>
                  <a:srgbClr val="6B7A6E"/>
                </a:solidFill>
                <a:latin typeface="Calibri" pitchFamily="34" charset="0"/>
                <a:ea typeface="Calibri" pitchFamily="34" charset="-122"/>
                <a:cs typeface="Calibri" pitchFamily="34" charset="-120"/>
              </a:rPr>
              <a:t>AVANCEMENT AU 27/08</a:t>
            </a:r>
            <a:endParaRPr lang="en-US" sz="1000" dirty="0"/>
          </a:p>
        </p:txBody>
      </p:sp>
      <p:sp>
        <p:nvSpPr>
          <p:cNvPr id="6" name="Text 4"/>
          <p:cNvSpPr txBox="1"/>
          <p:nvPr/>
        </p:nvSpPr>
        <p:spPr>
          <a:xfrm>
            <a:off x="9436608" y="1389888"/>
            <a:ext cx="2112264" cy="237744"/>
          </a:xfrm>
          <a:prstGeom prst="rect">
            <a:avLst/>
          </a:prstGeom>
          <a:noFill/>
          <a:ln/>
        </p:spPr>
        <p:txBody>
          <a:bodyPr wrap="square" lIns="0" tIns="0" rIns="0" bIns="0" rtlCol="0" anchor="ctr"/>
          <a:lstStyle/>
          <a:p>
            <a:pPr indent="0" marL="0">
              <a:buNone/>
            </a:pPr>
            <a:r>
              <a:rPr lang="en-US" sz="1000" b="1" spc="200" kern="0" dirty="0">
                <a:solidFill>
                  <a:srgbClr val="6B7A6E"/>
                </a:solidFill>
                <a:latin typeface="Calibri" pitchFamily="34" charset="0"/>
                <a:ea typeface="Calibri" pitchFamily="34" charset="-122"/>
                <a:cs typeface="Calibri" pitchFamily="34" charset="-120"/>
              </a:rPr>
              <a:t>STATUT</a:t>
            </a:r>
            <a:endParaRPr lang="en-US" sz="1000" dirty="0"/>
          </a:p>
        </p:txBody>
      </p:sp>
      <p:sp>
        <p:nvSpPr>
          <p:cNvPr id="7" name="Shape 5"/>
          <p:cNvSpPr/>
          <p:nvPr/>
        </p:nvSpPr>
        <p:spPr>
          <a:xfrm>
            <a:off x="640080" y="1700784"/>
            <a:ext cx="10911535" cy="722376"/>
          </a:xfrm>
          <a:prstGeom prst="roundRect">
            <a:avLst>
              <a:gd name="adj" fmla="val 8861"/>
            </a:avLst>
          </a:prstGeom>
          <a:solidFill>
            <a:srgbClr val="F4F7EF"/>
          </a:solidFill>
          <a:ln/>
        </p:spPr>
      </p:sp>
      <p:sp>
        <p:nvSpPr>
          <p:cNvPr id="8" name="Shape 6"/>
          <p:cNvSpPr/>
          <p:nvPr/>
        </p:nvSpPr>
        <p:spPr>
          <a:xfrm>
            <a:off x="749808" y="1897380"/>
            <a:ext cx="329184" cy="329184"/>
          </a:xfrm>
          <a:prstGeom prst="ellipse">
            <a:avLst/>
          </a:prstGeom>
          <a:solidFill>
            <a:srgbClr val="2C5F2D"/>
          </a:solidFill>
          <a:ln/>
        </p:spPr>
      </p:sp>
      <p:sp>
        <p:nvSpPr>
          <p:cNvPr id="9" name="Text 7"/>
          <p:cNvSpPr txBox="1"/>
          <p:nvPr/>
        </p:nvSpPr>
        <p:spPr>
          <a:xfrm>
            <a:off x="749808" y="18790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207008" y="1700784"/>
            <a:ext cx="4343400" cy="722376"/>
          </a:xfrm>
          <a:prstGeom prst="rect">
            <a:avLst/>
          </a:prstGeom>
          <a:noFill/>
          <a:ln/>
        </p:spPr>
        <p:txBody>
          <a:bodyPr wrap="square" lIns="0" tIns="0" rIns="0" bIns="0" rtlCol="0" anchor="ctr"/>
          <a:lstStyle/>
          <a:p>
            <a:pPr indent="0" marL="0">
              <a:buNone/>
            </a:pPr>
            <a:r>
              <a:rPr lang="en-US" sz="1150" b="1" dirty="0">
                <a:solidFill>
                  <a:srgbClr val="20302A"/>
                </a:solidFill>
                <a:latin typeface="Calibri" pitchFamily="34" charset="0"/>
                <a:ea typeface="Calibri" pitchFamily="34" charset="-122"/>
                <a:cs typeface="Calibri" pitchFamily="34" charset="-120"/>
              </a:rPr>
              <a:t>Actualiser le plan de mobilisation du personnel E&amp;S de GOPATECH (CV des experts)</a:t>
            </a:r>
            <a:endParaRPr lang="en-US" sz="1150" dirty="0"/>
          </a:p>
        </p:txBody>
      </p:sp>
      <p:sp>
        <p:nvSpPr>
          <p:cNvPr id="11" name="Text 9"/>
          <p:cNvSpPr txBox="1"/>
          <p:nvPr/>
        </p:nvSpPr>
        <p:spPr>
          <a:xfrm>
            <a:off x="5733288" y="1700784"/>
            <a:ext cx="3520440" cy="722376"/>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Plan du document transmis à l’AFD ; équipe E&amp;S en cours de mobilisation</a:t>
            </a:r>
            <a:endParaRPr lang="en-US" sz="1150" dirty="0"/>
          </a:p>
        </p:txBody>
      </p:sp>
      <p:sp>
        <p:nvSpPr>
          <p:cNvPr id="12" name="Shape 10"/>
          <p:cNvSpPr/>
          <p:nvPr/>
        </p:nvSpPr>
        <p:spPr>
          <a:xfrm>
            <a:off x="9436608" y="1906524"/>
            <a:ext cx="2112264" cy="310896"/>
          </a:xfrm>
          <a:prstGeom prst="roundRect">
            <a:avLst>
              <a:gd name="adj" fmla="val 50000"/>
            </a:avLst>
          </a:prstGeom>
          <a:solidFill>
            <a:srgbClr val="FBF1DD"/>
          </a:solidFill>
          <a:ln/>
        </p:spPr>
      </p:sp>
      <p:sp>
        <p:nvSpPr>
          <p:cNvPr id="13" name="Text 11"/>
          <p:cNvSpPr txBox="1"/>
          <p:nvPr/>
        </p:nvSpPr>
        <p:spPr>
          <a:xfrm>
            <a:off x="9436608" y="1888236"/>
            <a:ext cx="2112264" cy="329184"/>
          </a:xfrm>
          <a:prstGeom prst="rect">
            <a:avLst/>
          </a:prstGeom>
          <a:noFill/>
          <a:ln/>
        </p:spPr>
        <p:txBody>
          <a:bodyPr wrap="square" lIns="0" tIns="0" rIns="0" bIns="0" rtlCol="0" anchor="ctr"/>
          <a:lstStyle/>
          <a:p>
            <a:pPr algn="ctr" indent="0" marL="0">
              <a:buNone/>
            </a:pPr>
            <a:r>
              <a:rPr lang="en-US" sz="1000" b="1" dirty="0">
                <a:solidFill>
                  <a:srgbClr val="A9741F"/>
                </a:solidFill>
                <a:latin typeface="Calibri" pitchFamily="34" charset="0"/>
                <a:ea typeface="Calibri" pitchFamily="34" charset="-122"/>
                <a:cs typeface="Calibri" pitchFamily="34" charset="-120"/>
              </a:rPr>
              <a:t>Transmis — retour attendu</a:t>
            </a:r>
            <a:endParaRPr lang="en-US" sz="1000" dirty="0"/>
          </a:p>
        </p:txBody>
      </p:sp>
      <p:sp>
        <p:nvSpPr>
          <p:cNvPr id="14" name="Shape 12"/>
          <p:cNvSpPr/>
          <p:nvPr/>
        </p:nvSpPr>
        <p:spPr>
          <a:xfrm>
            <a:off x="640080" y="2523744"/>
            <a:ext cx="10911535" cy="722376"/>
          </a:xfrm>
          <a:prstGeom prst="roundRect">
            <a:avLst>
              <a:gd name="adj" fmla="val 8861"/>
            </a:avLst>
          </a:prstGeom>
          <a:solidFill>
            <a:srgbClr val="F4F7EF"/>
          </a:solidFill>
          <a:ln/>
        </p:spPr>
      </p:sp>
      <p:sp>
        <p:nvSpPr>
          <p:cNvPr id="15" name="Shape 13"/>
          <p:cNvSpPr/>
          <p:nvPr/>
        </p:nvSpPr>
        <p:spPr>
          <a:xfrm>
            <a:off x="749808" y="2720340"/>
            <a:ext cx="329184" cy="329184"/>
          </a:xfrm>
          <a:prstGeom prst="ellipse">
            <a:avLst/>
          </a:prstGeom>
          <a:solidFill>
            <a:srgbClr val="2C5F2D"/>
          </a:solidFill>
          <a:ln/>
        </p:spPr>
      </p:sp>
      <p:sp>
        <p:nvSpPr>
          <p:cNvPr id="16" name="Text 14"/>
          <p:cNvSpPr txBox="1"/>
          <p:nvPr/>
        </p:nvSpPr>
        <p:spPr>
          <a:xfrm>
            <a:off x="749808" y="27020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5"/>
          <p:cNvSpPr txBox="1"/>
          <p:nvPr/>
        </p:nvSpPr>
        <p:spPr>
          <a:xfrm>
            <a:off x="1207008" y="2523744"/>
            <a:ext cx="4343400" cy="722376"/>
          </a:xfrm>
          <a:prstGeom prst="rect">
            <a:avLst/>
          </a:prstGeom>
          <a:noFill/>
          <a:ln/>
        </p:spPr>
        <p:txBody>
          <a:bodyPr wrap="square" lIns="0" tIns="0" rIns="0" bIns="0" rtlCol="0" anchor="ctr"/>
          <a:lstStyle/>
          <a:p>
            <a:pPr indent="0" marL="0">
              <a:buNone/>
            </a:pPr>
            <a:r>
              <a:rPr lang="en-US" sz="1150" b="1" dirty="0">
                <a:solidFill>
                  <a:srgbClr val="20302A"/>
                </a:solidFill>
                <a:latin typeface="Calibri" pitchFamily="34" charset="0"/>
                <a:ea typeface="Calibri" pitchFamily="34" charset="-122"/>
                <a:cs typeface="Calibri" pitchFamily="34" charset="-120"/>
              </a:rPr>
              <a:t>Établir un chronogramme des 3 PRMS par lot</a:t>
            </a:r>
            <a:endParaRPr lang="en-US" sz="1150" dirty="0"/>
          </a:p>
        </p:txBody>
      </p:sp>
      <p:sp>
        <p:nvSpPr>
          <p:cNvPr id="18" name="Text 16"/>
          <p:cNvSpPr txBox="1"/>
          <p:nvPr/>
        </p:nvSpPr>
        <p:spPr>
          <a:xfrm>
            <a:off x="5733288" y="2523744"/>
            <a:ext cx="3520440" cy="722376"/>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Plan du document transmis à l’AFD</a:t>
            </a:r>
            <a:endParaRPr lang="en-US" sz="1150" dirty="0"/>
          </a:p>
        </p:txBody>
      </p:sp>
      <p:sp>
        <p:nvSpPr>
          <p:cNvPr id="19" name="Shape 17"/>
          <p:cNvSpPr/>
          <p:nvPr/>
        </p:nvSpPr>
        <p:spPr>
          <a:xfrm>
            <a:off x="9436608" y="2729484"/>
            <a:ext cx="2112264" cy="310896"/>
          </a:xfrm>
          <a:prstGeom prst="roundRect">
            <a:avLst>
              <a:gd name="adj" fmla="val 50000"/>
            </a:avLst>
          </a:prstGeom>
          <a:solidFill>
            <a:srgbClr val="FBF1DD"/>
          </a:solidFill>
          <a:ln/>
        </p:spPr>
      </p:sp>
      <p:sp>
        <p:nvSpPr>
          <p:cNvPr id="20" name="Text 18"/>
          <p:cNvSpPr txBox="1"/>
          <p:nvPr/>
        </p:nvSpPr>
        <p:spPr>
          <a:xfrm>
            <a:off x="9436608" y="2711196"/>
            <a:ext cx="2112264" cy="329184"/>
          </a:xfrm>
          <a:prstGeom prst="rect">
            <a:avLst/>
          </a:prstGeom>
          <a:noFill/>
          <a:ln/>
        </p:spPr>
        <p:txBody>
          <a:bodyPr wrap="square" lIns="0" tIns="0" rIns="0" bIns="0" rtlCol="0" anchor="ctr"/>
          <a:lstStyle/>
          <a:p>
            <a:pPr algn="ctr" indent="0" marL="0">
              <a:buNone/>
            </a:pPr>
            <a:r>
              <a:rPr lang="en-US" sz="1000" b="1" dirty="0">
                <a:solidFill>
                  <a:srgbClr val="A9741F"/>
                </a:solidFill>
                <a:latin typeface="Calibri" pitchFamily="34" charset="0"/>
                <a:ea typeface="Calibri" pitchFamily="34" charset="-122"/>
                <a:cs typeface="Calibri" pitchFamily="34" charset="-120"/>
              </a:rPr>
              <a:t>Transmis — retour attendu</a:t>
            </a:r>
            <a:endParaRPr lang="en-US" sz="1000" dirty="0"/>
          </a:p>
        </p:txBody>
      </p:sp>
      <p:sp>
        <p:nvSpPr>
          <p:cNvPr id="21" name="Shape 19"/>
          <p:cNvSpPr/>
          <p:nvPr/>
        </p:nvSpPr>
        <p:spPr>
          <a:xfrm>
            <a:off x="640080" y="3346704"/>
            <a:ext cx="10911535" cy="722376"/>
          </a:xfrm>
          <a:prstGeom prst="roundRect">
            <a:avLst>
              <a:gd name="adj" fmla="val 8861"/>
            </a:avLst>
          </a:prstGeom>
          <a:solidFill>
            <a:srgbClr val="F4F7EF"/>
          </a:solidFill>
          <a:ln/>
        </p:spPr>
      </p:sp>
      <p:sp>
        <p:nvSpPr>
          <p:cNvPr id="22" name="Shape 20"/>
          <p:cNvSpPr/>
          <p:nvPr/>
        </p:nvSpPr>
        <p:spPr>
          <a:xfrm>
            <a:off x="749808" y="3543300"/>
            <a:ext cx="329184" cy="329184"/>
          </a:xfrm>
          <a:prstGeom prst="ellipse">
            <a:avLst/>
          </a:prstGeom>
          <a:solidFill>
            <a:srgbClr val="2C5F2D"/>
          </a:solidFill>
          <a:ln/>
        </p:spPr>
      </p:sp>
      <p:sp>
        <p:nvSpPr>
          <p:cNvPr id="23" name="Text 21"/>
          <p:cNvSpPr txBox="1"/>
          <p:nvPr/>
        </p:nvSpPr>
        <p:spPr>
          <a:xfrm>
            <a:off x="749808" y="352501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4" name="Text 22"/>
          <p:cNvSpPr txBox="1"/>
          <p:nvPr/>
        </p:nvSpPr>
        <p:spPr>
          <a:xfrm>
            <a:off x="1207008" y="3346704"/>
            <a:ext cx="4343400" cy="722376"/>
          </a:xfrm>
          <a:prstGeom prst="rect">
            <a:avLst/>
          </a:prstGeom>
          <a:noFill/>
          <a:ln/>
        </p:spPr>
        <p:txBody>
          <a:bodyPr wrap="square" lIns="0" tIns="0" rIns="0" bIns="0" rtlCol="0" anchor="ctr"/>
          <a:lstStyle/>
          <a:p>
            <a:pPr indent="0" marL="0">
              <a:buNone/>
            </a:pPr>
            <a:r>
              <a:rPr lang="en-US" sz="1150" b="1" dirty="0">
                <a:solidFill>
                  <a:srgbClr val="20302A"/>
                </a:solidFill>
                <a:latin typeface="Calibri" pitchFamily="34" charset="0"/>
                <a:ea typeface="Calibri" pitchFamily="34" charset="-122"/>
                <a:cs typeface="Calibri" pitchFamily="34" charset="-120"/>
              </a:rPr>
              <a:t>Préparer le recrutement de l’ONG chargée du reboisement compensatoire (PAB)</a:t>
            </a:r>
            <a:endParaRPr lang="en-US" sz="1150" dirty="0"/>
          </a:p>
        </p:txBody>
      </p:sp>
      <p:sp>
        <p:nvSpPr>
          <p:cNvPr id="25" name="Text 23"/>
          <p:cNvSpPr txBox="1"/>
          <p:nvPr/>
        </p:nvSpPr>
        <p:spPr>
          <a:xfrm>
            <a:off x="5733288" y="3346704"/>
            <a:ext cx="3520440" cy="722376"/>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Recherche de l’ONG en cours — reboisement réalisable à partir de juillet 2027</a:t>
            </a:r>
            <a:endParaRPr lang="en-US" sz="1150" dirty="0"/>
          </a:p>
        </p:txBody>
      </p:sp>
      <p:sp>
        <p:nvSpPr>
          <p:cNvPr id="26" name="Shape 24"/>
          <p:cNvSpPr/>
          <p:nvPr/>
        </p:nvSpPr>
        <p:spPr>
          <a:xfrm>
            <a:off x="9436608" y="3552444"/>
            <a:ext cx="2112264" cy="310896"/>
          </a:xfrm>
          <a:prstGeom prst="roundRect">
            <a:avLst>
              <a:gd name="adj" fmla="val 50000"/>
            </a:avLst>
          </a:prstGeom>
          <a:solidFill>
            <a:srgbClr val="DDE8CE"/>
          </a:solidFill>
          <a:ln/>
        </p:spPr>
      </p:sp>
      <p:sp>
        <p:nvSpPr>
          <p:cNvPr id="27" name="Text 25"/>
          <p:cNvSpPr txBox="1"/>
          <p:nvPr/>
        </p:nvSpPr>
        <p:spPr>
          <a:xfrm>
            <a:off x="9436608" y="3534156"/>
            <a:ext cx="2112264" cy="329184"/>
          </a:xfrm>
          <a:prstGeom prst="rect">
            <a:avLst/>
          </a:prstGeom>
          <a:noFill/>
          <a:ln/>
        </p:spPr>
        <p:txBody>
          <a:bodyPr wrap="square" lIns="0" tIns="0" rIns="0" bIns="0"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En cours</a:t>
            </a:r>
            <a:endParaRPr lang="en-US" sz="1000" dirty="0"/>
          </a:p>
        </p:txBody>
      </p:sp>
      <p:sp>
        <p:nvSpPr>
          <p:cNvPr id="28" name="Shape 26"/>
          <p:cNvSpPr/>
          <p:nvPr/>
        </p:nvSpPr>
        <p:spPr>
          <a:xfrm>
            <a:off x="640080" y="4169664"/>
            <a:ext cx="10911535" cy="722376"/>
          </a:xfrm>
          <a:prstGeom prst="roundRect">
            <a:avLst>
              <a:gd name="adj" fmla="val 8861"/>
            </a:avLst>
          </a:prstGeom>
          <a:solidFill>
            <a:srgbClr val="F4F7EF"/>
          </a:solidFill>
          <a:ln/>
        </p:spPr>
      </p:sp>
      <p:sp>
        <p:nvSpPr>
          <p:cNvPr id="29" name="Shape 27"/>
          <p:cNvSpPr/>
          <p:nvPr/>
        </p:nvSpPr>
        <p:spPr>
          <a:xfrm>
            <a:off x="749808" y="4366260"/>
            <a:ext cx="329184" cy="329184"/>
          </a:xfrm>
          <a:prstGeom prst="ellipse">
            <a:avLst/>
          </a:prstGeom>
          <a:solidFill>
            <a:srgbClr val="2C5F2D"/>
          </a:solidFill>
          <a:ln/>
        </p:spPr>
      </p:sp>
      <p:sp>
        <p:nvSpPr>
          <p:cNvPr id="30" name="Text 28"/>
          <p:cNvSpPr txBox="1"/>
          <p:nvPr/>
        </p:nvSpPr>
        <p:spPr>
          <a:xfrm>
            <a:off x="749808" y="434797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1" name="Text 29"/>
          <p:cNvSpPr txBox="1"/>
          <p:nvPr/>
        </p:nvSpPr>
        <p:spPr>
          <a:xfrm>
            <a:off x="1207008" y="4169664"/>
            <a:ext cx="4343400" cy="722376"/>
          </a:xfrm>
          <a:prstGeom prst="rect">
            <a:avLst/>
          </a:prstGeom>
          <a:noFill/>
          <a:ln/>
        </p:spPr>
        <p:txBody>
          <a:bodyPr wrap="square" lIns="0" tIns="0" rIns="0" bIns="0" rtlCol="0" anchor="ctr"/>
          <a:lstStyle/>
          <a:p>
            <a:pPr indent="0" marL="0">
              <a:buNone/>
            </a:pPr>
            <a:r>
              <a:rPr lang="en-US" sz="1150" b="1" dirty="0">
                <a:solidFill>
                  <a:srgbClr val="20302A"/>
                </a:solidFill>
                <a:latin typeface="Calibri" pitchFamily="34" charset="0"/>
                <a:ea typeface="Calibri" pitchFamily="34" charset="-122"/>
                <a:cs typeface="Calibri" pitchFamily="34" charset="-120"/>
              </a:rPr>
              <a:t>Affiner le suivi PGES-C en zone très urbanisée</a:t>
            </a:r>
            <a:endParaRPr lang="en-US" sz="1150" dirty="0"/>
          </a:p>
        </p:txBody>
      </p:sp>
      <p:sp>
        <p:nvSpPr>
          <p:cNvPr id="32" name="Text 30"/>
          <p:cNvSpPr txBox="1"/>
          <p:nvPr/>
        </p:nvSpPr>
        <p:spPr>
          <a:xfrm>
            <a:off x="5733288" y="4169664"/>
            <a:ext cx="3520440" cy="722376"/>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Plan du document transmis à l’AFD</a:t>
            </a:r>
            <a:endParaRPr lang="en-US" sz="1150" dirty="0"/>
          </a:p>
        </p:txBody>
      </p:sp>
      <p:sp>
        <p:nvSpPr>
          <p:cNvPr id="33" name="Shape 31"/>
          <p:cNvSpPr/>
          <p:nvPr/>
        </p:nvSpPr>
        <p:spPr>
          <a:xfrm>
            <a:off x="9436608" y="4375404"/>
            <a:ext cx="2112264" cy="310896"/>
          </a:xfrm>
          <a:prstGeom prst="roundRect">
            <a:avLst>
              <a:gd name="adj" fmla="val 50000"/>
            </a:avLst>
          </a:prstGeom>
          <a:solidFill>
            <a:srgbClr val="FBF1DD"/>
          </a:solidFill>
          <a:ln/>
        </p:spPr>
      </p:sp>
      <p:sp>
        <p:nvSpPr>
          <p:cNvPr id="34" name="Text 32"/>
          <p:cNvSpPr txBox="1"/>
          <p:nvPr/>
        </p:nvSpPr>
        <p:spPr>
          <a:xfrm>
            <a:off x="9436608" y="4357116"/>
            <a:ext cx="2112264" cy="329184"/>
          </a:xfrm>
          <a:prstGeom prst="rect">
            <a:avLst/>
          </a:prstGeom>
          <a:noFill/>
          <a:ln/>
        </p:spPr>
        <p:txBody>
          <a:bodyPr wrap="square" lIns="0" tIns="0" rIns="0" bIns="0" rtlCol="0" anchor="ctr"/>
          <a:lstStyle/>
          <a:p>
            <a:pPr algn="ctr" indent="0" marL="0">
              <a:buNone/>
            </a:pPr>
            <a:r>
              <a:rPr lang="en-US" sz="1000" b="1" dirty="0">
                <a:solidFill>
                  <a:srgbClr val="A9741F"/>
                </a:solidFill>
                <a:latin typeface="Calibri" pitchFamily="34" charset="0"/>
                <a:ea typeface="Calibri" pitchFamily="34" charset="-122"/>
                <a:cs typeface="Calibri" pitchFamily="34" charset="-120"/>
              </a:rPr>
              <a:t>Transmis — retour attendu</a:t>
            </a:r>
            <a:endParaRPr lang="en-US" sz="1000" dirty="0"/>
          </a:p>
        </p:txBody>
      </p:sp>
      <p:sp>
        <p:nvSpPr>
          <p:cNvPr id="35" name="Shape 33"/>
          <p:cNvSpPr/>
          <p:nvPr/>
        </p:nvSpPr>
        <p:spPr>
          <a:xfrm>
            <a:off x="640080" y="4992624"/>
            <a:ext cx="10911535" cy="722376"/>
          </a:xfrm>
          <a:prstGeom prst="roundRect">
            <a:avLst>
              <a:gd name="adj" fmla="val 8861"/>
            </a:avLst>
          </a:prstGeom>
          <a:solidFill>
            <a:srgbClr val="F4F7EF"/>
          </a:solidFill>
          <a:ln/>
        </p:spPr>
      </p:sp>
      <p:sp>
        <p:nvSpPr>
          <p:cNvPr id="36" name="Shape 34"/>
          <p:cNvSpPr/>
          <p:nvPr/>
        </p:nvSpPr>
        <p:spPr>
          <a:xfrm>
            <a:off x="749808" y="5189220"/>
            <a:ext cx="329184" cy="329184"/>
          </a:xfrm>
          <a:prstGeom prst="ellipse">
            <a:avLst/>
          </a:prstGeom>
          <a:solidFill>
            <a:srgbClr val="2C5F2D"/>
          </a:solidFill>
          <a:ln/>
        </p:spPr>
      </p:sp>
      <p:sp>
        <p:nvSpPr>
          <p:cNvPr id="37" name="Text 35"/>
          <p:cNvSpPr txBox="1"/>
          <p:nvPr/>
        </p:nvSpPr>
        <p:spPr>
          <a:xfrm>
            <a:off x="749808" y="51709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8" name="Text 36"/>
          <p:cNvSpPr txBox="1"/>
          <p:nvPr/>
        </p:nvSpPr>
        <p:spPr>
          <a:xfrm>
            <a:off x="1207008" y="4992624"/>
            <a:ext cx="4343400" cy="722376"/>
          </a:xfrm>
          <a:prstGeom prst="rect">
            <a:avLst/>
          </a:prstGeom>
          <a:noFill/>
          <a:ln/>
        </p:spPr>
        <p:txBody>
          <a:bodyPr wrap="square" lIns="0" tIns="0" rIns="0" bIns="0" rtlCol="0" anchor="ctr"/>
          <a:lstStyle/>
          <a:p>
            <a:pPr indent="0" marL="0">
              <a:buNone/>
            </a:pPr>
            <a:r>
              <a:rPr lang="en-US" sz="1150" b="1" dirty="0">
                <a:solidFill>
                  <a:srgbClr val="20302A"/>
                </a:solidFill>
                <a:latin typeface="Calibri" pitchFamily="34" charset="0"/>
                <a:ea typeface="Calibri" pitchFamily="34" charset="-122"/>
                <a:cs typeface="Calibri" pitchFamily="34" charset="-120"/>
              </a:rPr>
              <a:t>Élaborer les modèles types (PGES-C, PRMS, rapport trimestriel)</a:t>
            </a:r>
            <a:endParaRPr lang="en-US" sz="1150" dirty="0"/>
          </a:p>
        </p:txBody>
      </p:sp>
      <p:sp>
        <p:nvSpPr>
          <p:cNvPr id="39" name="Text 37"/>
          <p:cNvSpPr txBox="1"/>
          <p:nvPr/>
        </p:nvSpPr>
        <p:spPr>
          <a:xfrm>
            <a:off x="5733288" y="4992624"/>
            <a:ext cx="3520440" cy="722376"/>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Plans des modèles transmis à l’AFD</a:t>
            </a:r>
            <a:endParaRPr lang="en-US" sz="1150" dirty="0"/>
          </a:p>
        </p:txBody>
      </p:sp>
      <p:sp>
        <p:nvSpPr>
          <p:cNvPr id="40" name="Shape 38"/>
          <p:cNvSpPr/>
          <p:nvPr/>
        </p:nvSpPr>
        <p:spPr>
          <a:xfrm>
            <a:off x="9436608" y="5198364"/>
            <a:ext cx="2112264" cy="310896"/>
          </a:xfrm>
          <a:prstGeom prst="roundRect">
            <a:avLst>
              <a:gd name="adj" fmla="val 50000"/>
            </a:avLst>
          </a:prstGeom>
          <a:solidFill>
            <a:srgbClr val="FBF1DD"/>
          </a:solidFill>
          <a:ln/>
        </p:spPr>
      </p:sp>
      <p:sp>
        <p:nvSpPr>
          <p:cNvPr id="41" name="Text 39"/>
          <p:cNvSpPr txBox="1"/>
          <p:nvPr/>
        </p:nvSpPr>
        <p:spPr>
          <a:xfrm>
            <a:off x="9436608" y="5180076"/>
            <a:ext cx="2112264" cy="329184"/>
          </a:xfrm>
          <a:prstGeom prst="rect">
            <a:avLst/>
          </a:prstGeom>
          <a:noFill/>
          <a:ln/>
        </p:spPr>
        <p:txBody>
          <a:bodyPr wrap="square" lIns="0" tIns="0" rIns="0" bIns="0" rtlCol="0" anchor="ctr"/>
          <a:lstStyle/>
          <a:p>
            <a:pPr algn="ctr" indent="0" marL="0">
              <a:buNone/>
            </a:pPr>
            <a:r>
              <a:rPr lang="en-US" sz="1000" b="1" dirty="0">
                <a:solidFill>
                  <a:srgbClr val="A9741F"/>
                </a:solidFill>
                <a:latin typeface="Calibri" pitchFamily="34" charset="0"/>
                <a:ea typeface="Calibri" pitchFamily="34" charset="-122"/>
                <a:cs typeface="Calibri" pitchFamily="34" charset="-120"/>
              </a:rPr>
              <a:t>Transmis — retour attendu</a:t>
            </a:r>
            <a:endParaRPr lang="en-US" sz="1000" dirty="0"/>
          </a:p>
        </p:txBody>
      </p:sp>
      <p:sp>
        <p:nvSpPr>
          <p:cNvPr id="42" name="Shape 40"/>
          <p:cNvSpPr/>
          <p:nvPr/>
        </p:nvSpPr>
        <p:spPr>
          <a:xfrm>
            <a:off x="640080" y="5870448"/>
            <a:ext cx="10911535" cy="566928"/>
          </a:xfrm>
          <a:prstGeom prst="roundRect">
            <a:avLst>
              <a:gd name="adj" fmla="val 14516"/>
            </a:avLst>
          </a:prstGeom>
          <a:solidFill>
            <a:srgbClr val="16331A"/>
          </a:solidFill>
          <a:ln/>
        </p:spPr>
      </p:sp>
      <p:sp>
        <p:nvSpPr>
          <p:cNvPr id="43" name="Text 41"/>
          <p:cNvSpPr txBox="1"/>
          <p:nvPr/>
        </p:nvSpPr>
        <p:spPr>
          <a:xfrm>
            <a:off x="914400" y="5870448"/>
            <a:ext cx="10362895" cy="566928"/>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Les plans des documents demandés ont été remis à l’AFD. </a:t>
            </a:r>
            <a:pPr indent="0" marL="0">
              <a:buNone/>
            </a:pPr>
            <a:r>
              <a:rPr lang="en-US" sz="1300" dirty="0">
                <a:solidFill>
                  <a:srgbClr val="FFFFFF"/>
                </a:solidFill>
                <a:latin typeface="Calibri" pitchFamily="34" charset="0"/>
                <a:ea typeface="Calibri" pitchFamily="34" charset="-122"/>
                <a:cs typeface="Calibri" pitchFamily="34" charset="-120"/>
              </a:rPr>
              <a:t>L’UGP est en attente des retours pour engager la rédaction complète des livrables.</a:t>
            </a:r>
            <a:endParaRPr lang="en-US" sz="1300" dirty="0"/>
          </a:p>
        </p:txBody>
      </p:sp>
      <p:sp>
        <p:nvSpPr>
          <p:cNvPr id="44" name="Text 42"/>
          <p:cNvSpPr txBox="1"/>
          <p:nvPr/>
        </p:nvSpPr>
        <p:spPr>
          <a:xfrm>
            <a:off x="640080" y="6446520"/>
            <a:ext cx="4572000" cy="274320"/>
          </a:xfrm>
          <a:prstGeom prst="rect">
            <a:avLst/>
          </a:prstGeom>
          <a:noFill/>
          <a:ln/>
        </p:spPr>
        <p:txBody>
          <a:bodyPr wrap="square" lIns="0" tIns="0" rIns="0" bIns="0" rtlCol="0" anchor="ctr"/>
          <a:lstStyle/>
          <a:p>
            <a:pPr algn="l" indent="0" marL="0">
              <a:buNone/>
            </a:pPr>
            <a:r>
              <a:rPr lang="en-US" sz="1000" dirty="0">
                <a:solidFill>
                  <a:srgbClr val="6B7A6E"/>
                </a:solidFill>
                <a:latin typeface="Calibri" pitchFamily="34" charset="0"/>
                <a:ea typeface="Calibri" pitchFamily="34" charset="-122"/>
                <a:cs typeface="Calibri" pitchFamily="34" charset="-120"/>
              </a:rPr>
              <a:t>PAAEGF • Volet E&amp;S — Réunion mensuelle № 2</a:t>
            </a:r>
            <a:endParaRPr lang="en-US" sz="1000" dirty="0"/>
          </a:p>
        </p:txBody>
      </p:sp>
      <p:sp>
        <p:nvSpPr>
          <p:cNvPr id="45" name="Text 43"/>
          <p:cNvSpPr txBox="1"/>
          <p:nvPr/>
        </p:nvSpPr>
        <p:spPr>
          <a:xfrm>
            <a:off x="11002975" y="6446520"/>
            <a:ext cx="548640" cy="274320"/>
          </a:xfrm>
          <a:prstGeom prst="rect">
            <a:avLst/>
          </a:prstGeom>
          <a:noFill/>
          <a:ln/>
        </p:spPr>
        <p:txBody>
          <a:bodyPr wrap="square" lIns="0" tIns="0" rIns="0" bIns="0" rtlCol="0" anchor="ctr"/>
          <a:lstStyle/>
          <a:p>
            <a:pPr algn="r" indent="0" marL="0">
              <a:buNone/>
            </a:pPr>
            <a:r>
              <a:rPr lang="en-US" sz="1000" dirty="0">
                <a:solidFill>
                  <a:srgbClr val="6B7A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47472"/>
            <a:ext cx="10911535"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POINT EIES</a:t>
            </a:r>
            <a:endParaRPr lang="en-US" sz="12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EIES actualisée — intégration de la note Biotope</a:t>
            </a:r>
            <a:endParaRPr lang="en-US" sz="2800" dirty="0"/>
          </a:p>
        </p:txBody>
      </p:sp>
      <p:sp>
        <p:nvSpPr>
          <p:cNvPr id="4" name="Shape 2"/>
          <p:cNvSpPr/>
          <p:nvPr/>
        </p:nvSpPr>
        <p:spPr>
          <a:xfrm>
            <a:off x="640080" y="1463040"/>
            <a:ext cx="5303520" cy="4160520"/>
          </a:xfrm>
          <a:prstGeom prst="roundRect">
            <a:avLst>
              <a:gd name="adj" fmla="val 2198"/>
            </a:avLst>
          </a:prstGeom>
          <a:solidFill>
            <a:srgbClr val="F4F7EF"/>
          </a:solidFill>
          <a:ln/>
        </p:spPr>
      </p:sp>
      <p:sp>
        <p:nvSpPr>
          <p:cNvPr id="5" name="Shape 3"/>
          <p:cNvSpPr/>
          <p:nvPr/>
        </p:nvSpPr>
        <p:spPr>
          <a:xfrm>
            <a:off x="914400" y="1737360"/>
            <a:ext cx="502920" cy="502920"/>
          </a:xfrm>
          <a:prstGeom prst="roundRect">
            <a:avLst>
              <a:gd name="adj" fmla="val 22000"/>
            </a:avLst>
          </a:prstGeom>
          <a:solidFill>
            <a:srgbClr val="2C5F2D"/>
          </a:solidFill>
          <a:ln/>
        </p:spPr>
      </p:sp>
      <p:pic>
        <p:nvPicPr>
          <p:cNvPr id="6" name="Image 0" descr="/tmp/claude-0/-home-user-ZION/aed2737c-8fe1-5a52-9c9c-85dc1ebe3ccb/scratchpad/icons/search-w.png">    </p:cNvPr>
          <p:cNvPicPr>
            <a:picLocks noChangeAspect="1"/>
          </p:cNvPicPr>
          <p:nvPr/>
        </p:nvPicPr>
        <p:blipFill>
          <a:blip r:embed="rId1"/>
          <a:stretch>
            <a:fillRect/>
          </a:stretch>
        </p:blipFill>
        <p:spPr>
          <a:xfrm>
            <a:off x="1045159" y="1868119"/>
            <a:ext cx="241402" cy="241402"/>
          </a:xfrm>
          <a:prstGeom prst="rect">
            <a:avLst/>
          </a:prstGeom>
        </p:spPr>
      </p:pic>
      <p:sp>
        <p:nvSpPr>
          <p:cNvPr id="7" name="Text 4"/>
          <p:cNvSpPr txBox="1"/>
          <p:nvPr/>
        </p:nvSpPr>
        <p:spPr>
          <a:xfrm>
            <a:off x="1600200" y="1737360"/>
            <a:ext cx="4114800" cy="50292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Nouveau tronçon Nonah – Gbamou (10 km)</a:t>
            </a:r>
            <a:endParaRPr lang="en-US" sz="1500" dirty="0"/>
          </a:p>
        </p:txBody>
      </p:sp>
      <p:sp>
        <p:nvSpPr>
          <p:cNvPr id="8" name="Text 5"/>
          <p:cNvSpPr txBox="1"/>
          <p:nvPr/>
        </p:nvSpPr>
        <p:spPr>
          <a:xfrm>
            <a:off x="932688" y="2423160"/>
            <a:ext cx="4736592" cy="3017520"/>
          </a:xfrm>
          <a:prstGeom prst="rect">
            <a:avLst/>
          </a:prstGeom>
          <a:noFill/>
          <a:ln/>
        </p:spPr>
        <p:txBody>
          <a:bodyPr wrap="square" lIns="0" tIns="0" rIns="0" bIns="0" rtlCol="0" anchor="t"/>
          <a:lstStyle/>
          <a:p>
            <a:pPr marL="127000" indent="-127000">
              <a:spcAft>
                <a:spcPts val="1000"/>
              </a:spcAft>
              <a:buSzPct val="100000"/>
              <a:buChar char="•"/>
            </a:pPr>
            <a:r>
              <a:rPr lang="en-US" sz="1250" dirty="0">
                <a:solidFill>
                  <a:srgbClr val="20302A"/>
                </a:solidFill>
                <a:latin typeface="Calibri" pitchFamily="34" charset="0"/>
                <a:ea typeface="Calibri" pitchFamily="34" charset="-122"/>
                <a:cs typeface="Calibri" pitchFamily="34" charset="-120"/>
              </a:rPr>
              <a:t>Lot 3 — dorsales de Yomou et de Diécké, axe Péla – Diécké, en limite occidentale de la forêt classée de Diécké.</a:t>
            </a:r>
            <a:endParaRPr lang="en-US" sz="1250" dirty="0"/>
          </a:p>
          <a:p>
            <a:pPr marL="127000" indent="-127000">
              <a:spcAft>
                <a:spcPts val="1000"/>
              </a:spcAft>
              <a:buSzPct val="100000"/>
              <a:buChar char="•"/>
            </a:pPr>
            <a:r>
              <a:rPr lang="en-US" sz="1250" dirty="0">
                <a:solidFill>
                  <a:srgbClr val="20302A"/>
                </a:solidFill>
                <a:latin typeface="Calibri" pitchFamily="34" charset="0"/>
                <a:ea typeface="Calibri" pitchFamily="34" charset="-122"/>
                <a:cs typeface="Calibri" pitchFamily="34" charset="-120"/>
              </a:rPr>
              <a:t>Mission de terrain biodiversité conduite du 3 au 8 juin 2026 (Biotope Guinée) ; note d’analyse restituée le 28 juillet 2026.</a:t>
            </a:r>
            <a:endParaRPr lang="en-US" sz="1250" dirty="0"/>
          </a:p>
          <a:p>
            <a:pPr marL="127000" indent="-127000">
              <a:spcAft>
                <a:spcPts val="1000"/>
              </a:spcAft>
              <a:buSzPct val="100000"/>
              <a:buChar char="•"/>
            </a:pPr>
            <a:r>
              <a:rPr lang="en-US" sz="1250" dirty="0">
                <a:solidFill>
                  <a:srgbClr val="20302A"/>
                </a:solidFill>
                <a:latin typeface="Calibri" pitchFamily="34" charset="0"/>
                <a:ea typeface="Calibri" pitchFamily="34" charset="-122"/>
                <a:cs typeface="Calibri" pitchFamily="34" charset="-120"/>
              </a:rPr>
              <a:t>Milieux quasi intégralement anthropisés : 94 % d’habitats transformés dans la bande d’étude (plantations, champs, jachères).</a:t>
            </a:r>
            <a:endParaRPr lang="en-US" sz="1250" dirty="0"/>
          </a:p>
          <a:p>
            <a:pPr marL="127000" indent="-127000">
              <a:buSzPct val="100000"/>
              <a:buChar char="•"/>
            </a:pPr>
            <a:r>
              <a:rPr lang="en-US" sz="1250" dirty="0">
                <a:solidFill>
                  <a:srgbClr val="20302A"/>
                </a:solidFill>
                <a:latin typeface="Calibri" pitchFamily="34" charset="0"/>
                <a:ea typeface="Calibri" pitchFamily="34" charset="-122"/>
                <a:cs typeface="Calibri" pitchFamily="34" charset="-120"/>
              </a:rPr>
              <a:t>14 textes d’intégration (M1 à M14) rédigés et prêts à être insérés dans le rapport d’EIES, avec matrice de traçabilité (août 2026).</a:t>
            </a:r>
            <a:endParaRPr lang="en-US" sz="1250" dirty="0"/>
          </a:p>
        </p:txBody>
      </p:sp>
      <p:sp>
        <p:nvSpPr>
          <p:cNvPr id="9" name="Shape 6"/>
          <p:cNvSpPr/>
          <p:nvPr/>
        </p:nvSpPr>
        <p:spPr>
          <a:xfrm>
            <a:off x="6245352" y="1463040"/>
            <a:ext cx="5306263" cy="4160520"/>
          </a:xfrm>
          <a:prstGeom prst="roundRect">
            <a:avLst>
              <a:gd name="adj" fmla="val 2198"/>
            </a:avLst>
          </a:prstGeom>
          <a:solidFill>
            <a:srgbClr val="F4F7EF"/>
          </a:solidFill>
          <a:ln/>
        </p:spPr>
      </p:sp>
      <p:sp>
        <p:nvSpPr>
          <p:cNvPr id="10" name="Shape 7"/>
          <p:cNvSpPr/>
          <p:nvPr/>
        </p:nvSpPr>
        <p:spPr>
          <a:xfrm>
            <a:off x="6519672" y="1737360"/>
            <a:ext cx="502920" cy="502920"/>
          </a:xfrm>
          <a:prstGeom prst="roundRect">
            <a:avLst>
              <a:gd name="adj" fmla="val 22000"/>
            </a:avLst>
          </a:prstGeom>
          <a:solidFill>
            <a:srgbClr val="2C5F2D"/>
          </a:solidFill>
          <a:ln/>
        </p:spPr>
      </p:sp>
      <p:pic>
        <p:nvPicPr>
          <p:cNvPr id="11" name="Image 1" descr="/tmp/claude-0/-home-user-ZION/aed2737c-8fe1-5a52-9c9c-85dc1ebe3ccb/scratchpad/icons/dove-w.png">    </p:cNvPr>
          <p:cNvPicPr>
            <a:picLocks noChangeAspect="1"/>
          </p:cNvPicPr>
          <p:nvPr/>
        </p:nvPicPr>
        <p:blipFill>
          <a:blip r:embed="rId2"/>
          <a:stretch>
            <a:fillRect/>
          </a:stretch>
        </p:blipFill>
        <p:spPr>
          <a:xfrm>
            <a:off x="6650431" y="1868119"/>
            <a:ext cx="241402" cy="241402"/>
          </a:xfrm>
          <a:prstGeom prst="rect">
            <a:avLst/>
          </a:prstGeom>
        </p:spPr>
      </p:pic>
      <p:sp>
        <p:nvSpPr>
          <p:cNvPr id="12" name="Text 8"/>
          <p:cNvSpPr txBox="1"/>
          <p:nvPr/>
        </p:nvSpPr>
        <p:spPr>
          <a:xfrm>
            <a:off x="7205472" y="1737360"/>
            <a:ext cx="4117543" cy="50292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Mesures biodiversité renforcées</a:t>
            </a:r>
            <a:endParaRPr lang="en-US" sz="1500" dirty="0"/>
          </a:p>
        </p:txBody>
      </p:sp>
      <p:sp>
        <p:nvSpPr>
          <p:cNvPr id="13" name="Text 9"/>
          <p:cNvSpPr txBox="1"/>
          <p:nvPr/>
        </p:nvSpPr>
        <p:spPr>
          <a:xfrm>
            <a:off x="6537960" y="2423160"/>
            <a:ext cx="4739335" cy="3108960"/>
          </a:xfrm>
          <a:prstGeom prst="rect">
            <a:avLst/>
          </a:prstGeom>
          <a:noFill/>
          <a:ln/>
        </p:spPr>
        <p:txBody>
          <a:bodyPr wrap="square" lIns="0" tIns="0" rIns="0" bIns="0" rtlCol="0" anchor="t"/>
          <a:lstStyle/>
          <a:p>
            <a:pPr marL="127000" indent="-127000">
              <a:spcAft>
                <a:spcPts val="800"/>
              </a:spcAft>
              <a:buSzPct val="100000"/>
              <a:buChar char="•"/>
            </a:pPr>
            <a:r>
              <a:rPr lang="en-US" sz="1200" dirty="0">
                <a:solidFill>
                  <a:srgbClr val="20302A"/>
                </a:solidFill>
                <a:latin typeface="Calibri" pitchFamily="34" charset="0"/>
                <a:ea typeface="Calibri" pitchFamily="34" charset="-122"/>
                <a:cs typeface="Calibri" pitchFamily="34" charset="-120"/>
              </a:rPr>
              <a:t>Hiérarchisation spatiale des enjeux : fort au sud de Nonah, moyen à l’approche de Gbamou, faible sur le linéaire courant.</a:t>
            </a:r>
            <a:endParaRPr lang="en-US" sz="1200" dirty="0"/>
          </a:p>
          <a:p>
            <a:pPr marL="127000" indent="-127000">
              <a:spcAft>
                <a:spcPts val="800"/>
              </a:spcAft>
              <a:buSzPct val="100000"/>
              <a:buChar char="•"/>
            </a:pPr>
            <a:r>
              <a:rPr lang="en-US" sz="1200" dirty="0">
                <a:solidFill>
                  <a:srgbClr val="20302A"/>
                </a:solidFill>
                <a:latin typeface="Calibri" pitchFamily="34" charset="0"/>
                <a:ea typeface="Calibri" pitchFamily="34" charset="-122"/>
                <a:cs typeface="Calibri" pitchFamily="34" charset="-120"/>
              </a:rPr>
              <a:t>Corridor de déplacement de chimpanzés d’Afrique de l’Ouest (CR) confirmé à l’approche de Gbamou : balisage, surveillance renforcée, arrêt temporaire du chantier si observation.</a:t>
            </a:r>
            <a:endParaRPr lang="en-US" sz="1200" dirty="0"/>
          </a:p>
          <a:p>
            <a:pPr marL="127000" indent="-127000">
              <a:spcAft>
                <a:spcPts val="800"/>
              </a:spcAft>
              <a:buSzPct val="100000"/>
              <a:buChar char="•"/>
            </a:pPr>
            <a:r>
              <a:rPr lang="en-US" sz="1200" dirty="0">
                <a:solidFill>
                  <a:srgbClr val="20302A"/>
                </a:solidFill>
                <a:latin typeface="Calibri" pitchFamily="34" charset="0"/>
                <a:ea typeface="Calibri" pitchFamily="34" charset="-122"/>
                <a:cs typeface="Calibri" pitchFamily="34" charset="-120"/>
              </a:rPr>
              <a:t>Dispositifs anti-électrocution pour l’avifaune (aigle martial, vautour charognard) et anti-grimpe pour les primates sur les secteurs sensibles.</a:t>
            </a:r>
            <a:endParaRPr lang="en-US" sz="1200" dirty="0"/>
          </a:p>
          <a:p>
            <a:pPr marL="127000" indent="-127000">
              <a:spcAft>
                <a:spcPts val="800"/>
              </a:spcAft>
              <a:buSzPct val="100000"/>
              <a:buChar char="•"/>
            </a:pPr>
            <a:r>
              <a:rPr lang="en-US" sz="1200" dirty="0">
                <a:solidFill>
                  <a:srgbClr val="20302A"/>
                </a:solidFill>
                <a:latin typeface="Calibri" pitchFamily="34" charset="0"/>
                <a:ea typeface="Calibri" pitchFamily="34" charset="-122"/>
                <a:cs typeface="Calibri" pitchFamily="34" charset="-120"/>
              </a:rPr>
              <a:t>Évitement strict de la forêt sacrée au sud de Nonah, après concertation avec les autorités villageoises.</a:t>
            </a:r>
            <a:endParaRPr lang="en-US" sz="1200" dirty="0"/>
          </a:p>
          <a:p>
            <a:pPr marL="127000" indent="-127000">
              <a:buSzPct val="100000"/>
              <a:buChar char="•"/>
            </a:pPr>
            <a:r>
              <a:rPr lang="en-US" sz="1200" dirty="0">
                <a:solidFill>
                  <a:srgbClr val="20302A"/>
                </a:solidFill>
                <a:latin typeface="Calibri" pitchFamily="34" charset="0"/>
                <a:ea typeface="Calibri" pitchFamily="34" charset="-122"/>
                <a:cs typeface="Calibri" pitchFamily="34" charset="-120"/>
              </a:rPr>
              <a:t>Suivi de la mortalité aviaire sur 12 mois, signalement communautaire et clause de gestion adaptative intégrés au PGES.</a:t>
            </a:r>
            <a:endParaRPr lang="en-US" sz="1200" dirty="0"/>
          </a:p>
        </p:txBody>
      </p:sp>
      <p:sp>
        <p:nvSpPr>
          <p:cNvPr id="14" name="Shape 10"/>
          <p:cNvSpPr/>
          <p:nvPr/>
        </p:nvSpPr>
        <p:spPr>
          <a:xfrm>
            <a:off x="640080" y="5779008"/>
            <a:ext cx="10911535" cy="475488"/>
          </a:xfrm>
          <a:prstGeom prst="roundRect">
            <a:avLst>
              <a:gd name="adj" fmla="val 15385"/>
            </a:avLst>
          </a:prstGeom>
          <a:solidFill>
            <a:srgbClr val="FBF1DD"/>
          </a:solidFill>
          <a:ln/>
        </p:spPr>
      </p:sp>
      <p:sp>
        <p:nvSpPr>
          <p:cNvPr id="15" name="Text 11"/>
          <p:cNvSpPr txBox="1"/>
          <p:nvPr/>
        </p:nvSpPr>
        <p:spPr>
          <a:xfrm>
            <a:off x="914400" y="5779008"/>
            <a:ext cx="10362895" cy="475488"/>
          </a:xfrm>
          <a:prstGeom prst="rect">
            <a:avLst/>
          </a:prstGeom>
          <a:noFill/>
          <a:ln/>
        </p:spPr>
        <p:txBody>
          <a:bodyPr wrap="square" lIns="0" tIns="0" rIns="0" bIns="0" rtlCol="0" anchor="ctr"/>
          <a:lstStyle/>
          <a:p>
            <a:pPr indent="0" marL="0">
              <a:buNone/>
            </a:pPr>
            <a:r>
              <a:rPr lang="en-US" sz="1200" b="1" dirty="0">
                <a:solidFill>
                  <a:srgbClr val="A9741F"/>
                </a:solidFill>
                <a:latin typeface="Calibri" pitchFamily="34" charset="0"/>
                <a:ea typeface="Calibri" pitchFamily="34" charset="-122"/>
                <a:cs typeface="Calibri" pitchFamily="34" charset="-120"/>
              </a:rPr>
              <a:t>Le niveau d’exigence du PGES est intégralement maintenu </a:t>
            </a:r>
            <a:pPr indent="0" marL="0">
              <a:buNone/>
            </a:pPr>
            <a:r>
              <a:rPr lang="en-US" sz="1200" dirty="0">
                <a:solidFill>
                  <a:srgbClr val="20302A"/>
                </a:solidFill>
                <a:latin typeface="Calibri" pitchFamily="34" charset="0"/>
                <a:ea typeface="Calibri" pitchFamily="34" charset="-122"/>
                <a:cs typeface="Calibri" pitchFamily="34" charset="-120"/>
              </a:rPr>
              <a:t>— les mesures d’évitement, de réduction et de suivi sont conservées et ciblées sur les secteurs les plus sensibles.</a:t>
            </a:r>
            <a:endParaRPr lang="en-US" sz="1200" dirty="0"/>
          </a:p>
        </p:txBody>
      </p:sp>
      <p:sp>
        <p:nvSpPr>
          <p:cNvPr id="16" name="Text 12"/>
          <p:cNvSpPr txBox="1"/>
          <p:nvPr/>
        </p:nvSpPr>
        <p:spPr>
          <a:xfrm>
            <a:off x="640080" y="6446520"/>
            <a:ext cx="4572000" cy="274320"/>
          </a:xfrm>
          <a:prstGeom prst="rect">
            <a:avLst/>
          </a:prstGeom>
          <a:noFill/>
          <a:ln/>
        </p:spPr>
        <p:txBody>
          <a:bodyPr wrap="square" lIns="0" tIns="0" rIns="0" bIns="0" rtlCol="0" anchor="ctr"/>
          <a:lstStyle/>
          <a:p>
            <a:pPr algn="l" indent="0" marL="0">
              <a:buNone/>
            </a:pPr>
            <a:r>
              <a:rPr lang="en-US" sz="1000" dirty="0">
                <a:solidFill>
                  <a:srgbClr val="6B7A6E"/>
                </a:solidFill>
                <a:latin typeface="Calibri" pitchFamily="34" charset="0"/>
                <a:ea typeface="Calibri" pitchFamily="34" charset="-122"/>
                <a:cs typeface="Calibri" pitchFamily="34" charset="-120"/>
              </a:rPr>
              <a:t>PAAEGF • Volet E&amp;S — Réunion mensuelle № 2</a:t>
            </a:r>
            <a:endParaRPr lang="en-US" sz="1000" dirty="0"/>
          </a:p>
        </p:txBody>
      </p:sp>
      <p:sp>
        <p:nvSpPr>
          <p:cNvPr id="17" name="Text 13"/>
          <p:cNvSpPr txBox="1"/>
          <p:nvPr/>
        </p:nvSpPr>
        <p:spPr>
          <a:xfrm>
            <a:off x="11002975" y="6446520"/>
            <a:ext cx="548640" cy="274320"/>
          </a:xfrm>
          <a:prstGeom prst="rect">
            <a:avLst/>
          </a:prstGeom>
          <a:noFill/>
          <a:ln/>
        </p:spPr>
        <p:txBody>
          <a:bodyPr wrap="square" lIns="0" tIns="0" rIns="0" bIns="0" rtlCol="0" anchor="ctr"/>
          <a:lstStyle/>
          <a:p>
            <a:pPr algn="r" indent="0" marL="0">
              <a:buNone/>
            </a:pPr>
            <a:r>
              <a:rPr lang="en-US" sz="1000" dirty="0">
                <a:solidFill>
                  <a:srgbClr val="6B7A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47472"/>
            <a:ext cx="10911535"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POINT EIES</a:t>
            </a:r>
            <a:endParaRPr lang="en-US" sz="12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Reclassement environnemental B+ → B : un acquis</a:t>
            </a:r>
            <a:endParaRPr lang="en-US" sz="2800" dirty="0"/>
          </a:p>
        </p:txBody>
      </p:sp>
      <p:sp>
        <p:nvSpPr>
          <p:cNvPr id="4" name="Shape 2"/>
          <p:cNvSpPr/>
          <p:nvPr/>
        </p:nvSpPr>
        <p:spPr>
          <a:xfrm>
            <a:off x="3200400" y="2112264"/>
            <a:ext cx="219456" cy="0"/>
          </a:xfrm>
          <a:prstGeom prst="line">
            <a:avLst/>
          </a:prstGeom>
          <a:noFill/>
          <a:ln w="31750">
            <a:solidFill>
              <a:srgbClr val="DDE8CE"/>
            </a:solidFill>
            <a:prstDash val="solid"/>
          </a:ln>
        </p:spPr>
      </p:sp>
      <p:sp>
        <p:nvSpPr>
          <p:cNvPr id="5" name="Shape 3"/>
          <p:cNvSpPr/>
          <p:nvPr/>
        </p:nvSpPr>
        <p:spPr>
          <a:xfrm>
            <a:off x="640080" y="1828800"/>
            <a:ext cx="566928" cy="566928"/>
          </a:xfrm>
          <a:prstGeom prst="ellipse">
            <a:avLst/>
          </a:prstGeom>
          <a:solidFill>
            <a:srgbClr val="2C5F2D"/>
          </a:solidFill>
          <a:ln/>
        </p:spPr>
      </p:sp>
      <p:sp>
        <p:nvSpPr>
          <p:cNvPr id="6" name="Text 4"/>
          <p:cNvSpPr txBox="1"/>
          <p:nvPr/>
        </p:nvSpPr>
        <p:spPr>
          <a:xfrm>
            <a:off x="640080" y="181051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640080" y="2542032"/>
            <a:ext cx="2560320" cy="256032"/>
          </a:xfrm>
          <a:prstGeom prst="rect">
            <a:avLst/>
          </a:prstGeom>
          <a:noFill/>
          <a:ln/>
        </p:spPr>
        <p:txBody>
          <a:bodyPr wrap="square" lIns="0" tIns="0" rIns="0" bIns="0" rtlCol="0" anchor="ctr"/>
          <a:lstStyle/>
          <a:p>
            <a:pPr indent="0" marL="0">
              <a:buNone/>
            </a:pPr>
            <a:r>
              <a:rPr lang="en-US" sz="1100" b="1" spc="150" kern="0" dirty="0">
                <a:solidFill>
                  <a:srgbClr val="6B7A6E"/>
                </a:solidFill>
                <a:latin typeface="Calibri" pitchFamily="34" charset="0"/>
                <a:ea typeface="Calibri" pitchFamily="34" charset="-122"/>
                <a:cs typeface="Calibri" pitchFamily="34" charset="-120"/>
              </a:rPr>
              <a:t>MARS 2026</a:t>
            </a:r>
            <a:endParaRPr lang="en-US" sz="1100" dirty="0"/>
          </a:p>
        </p:txBody>
      </p:sp>
      <p:sp>
        <p:nvSpPr>
          <p:cNvPr id="8" name="Text 6"/>
          <p:cNvSpPr txBox="1"/>
          <p:nvPr/>
        </p:nvSpPr>
        <p:spPr>
          <a:xfrm>
            <a:off x="640080" y="2798064"/>
            <a:ext cx="2560320" cy="566928"/>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Note technique de reclassification</a:t>
            </a:r>
            <a:endParaRPr lang="en-US" sz="1450" dirty="0"/>
          </a:p>
        </p:txBody>
      </p:sp>
      <p:sp>
        <p:nvSpPr>
          <p:cNvPr id="9" name="Text 7"/>
          <p:cNvSpPr txBox="1"/>
          <p:nvPr/>
        </p:nvSpPr>
        <p:spPr>
          <a:xfrm>
            <a:off x="640080" y="3364992"/>
            <a:ext cx="2560320" cy="1188720"/>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Demande EDG fondée sur l’évitement intégral des forêts classées du Mont Béro et de Diécké</a:t>
            </a:r>
            <a:endParaRPr lang="en-US" sz="1150" dirty="0"/>
          </a:p>
        </p:txBody>
      </p:sp>
      <p:sp>
        <p:nvSpPr>
          <p:cNvPr id="10" name="Shape 8"/>
          <p:cNvSpPr/>
          <p:nvPr/>
        </p:nvSpPr>
        <p:spPr>
          <a:xfrm>
            <a:off x="5980176" y="2112264"/>
            <a:ext cx="219456" cy="0"/>
          </a:xfrm>
          <a:prstGeom prst="line">
            <a:avLst/>
          </a:prstGeom>
          <a:noFill/>
          <a:ln w="31750">
            <a:solidFill>
              <a:srgbClr val="DDE8CE"/>
            </a:solidFill>
            <a:prstDash val="solid"/>
          </a:ln>
        </p:spPr>
      </p:sp>
      <p:sp>
        <p:nvSpPr>
          <p:cNvPr id="11" name="Shape 9"/>
          <p:cNvSpPr/>
          <p:nvPr/>
        </p:nvSpPr>
        <p:spPr>
          <a:xfrm>
            <a:off x="3419856" y="1828800"/>
            <a:ext cx="566928" cy="566928"/>
          </a:xfrm>
          <a:prstGeom prst="ellipse">
            <a:avLst/>
          </a:prstGeom>
          <a:solidFill>
            <a:srgbClr val="2C5F2D"/>
          </a:solidFill>
          <a:ln/>
        </p:spPr>
      </p:sp>
      <p:sp>
        <p:nvSpPr>
          <p:cNvPr id="12" name="Text 10"/>
          <p:cNvSpPr txBox="1"/>
          <p:nvPr/>
        </p:nvSpPr>
        <p:spPr>
          <a:xfrm>
            <a:off x="3419856" y="181051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3419856" y="2542032"/>
            <a:ext cx="2560320" cy="256032"/>
          </a:xfrm>
          <a:prstGeom prst="rect">
            <a:avLst/>
          </a:prstGeom>
          <a:noFill/>
          <a:ln/>
        </p:spPr>
        <p:txBody>
          <a:bodyPr wrap="square" lIns="0" tIns="0" rIns="0" bIns="0" rtlCol="0" anchor="ctr"/>
          <a:lstStyle/>
          <a:p>
            <a:pPr indent="0" marL="0">
              <a:buNone/>
            </a:pPr>
            <a:r>
              <a:rPr lang="en-US" sz="1100" b="1" spc="150" kern="0" dirty="0">
                <a:solidFill>
                  <a:srgbClr val="6B7A6E"/>
                </a:solidFill>
                <a:latin typeface="Calibri" pitchFamily="34" charset="0"/>
                <a:ea typeface="Calibri" pitchFamily="34" charset="-122"/>
                <a:cs typeface="Calibri" pitchFamily="34" charset="-120"/>
              </a:rPr>
              <a:t>13 MARS 2026</a:t>
            </a:r>
            <a:endParaRPr lang="en-US" sz="1100" dirty="0"/>
          </a:p>
        </p:txBody>
      </p:sp>
      <p:sp>
        <p:nvSpPr>
          <p:cNvPr id="14" name="Text 12"/>
          <p:cNvSpPr txBox="1"/>
          <p:nvPr/>
        </p:nvSpPr>
        <p:spPr>
          <a:xfrm>
            <a:off x="3419856" y="2798064"/>
            <a:ext cx="2560320" cy="566928"/>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Accord conditionnel de l’AFD</a:t>
            </a:r>
            <a:endParaRPr lang="en-US" sz="1450" dirty="0"/>
          </a:p>
        </p:txBody>
      </p:sp>
      <p:sp>
        <p:nvSpPr>
          <p:cNvPr id="15" name="Text 13"/>
          <p:cNvSpPr txBox="1"/>
          <p:nvPr/>
        </p:nvSpPr>
        <p:spPr>
          <a:xfrm>
            <a:off x="3419856" y="3364992"/>
            <a:ext cx="2560320" cy="1188720"/>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Accord sur le reclassement, sous réserve d’une mission de terrain sur le nouveau tronçon de 10 km</a:t>
            </a:r>
            <a:endParaRPr lang="en-US" sz="1150" dirty="0"/>
          </a:p>
        </p:txBody>
      </p:sp>
      <p:sp>
        <p:nvSpPr>
          <p:cNvPr id="16" name="Shape 14"/>
          <p:cNvSpPr/>
          <p:nvPr/>
        </p:nvSpPr>
        <p:spPr>
          <a:xfrm>
            <a:off x="8759952" y="2112264"/>
            <a:ext cx="219456" cy="0"/>
          </a:xfrm>
          <a:prstGeom prst="line">
            <a:avLst/>
          </a:prstGeom>
          <a:noFill/>
          <a:ln w="31750">
            <a:solidFill>
              <a:srgbClr val="DDE8CE"/>
            </a:solidFill>
            <a:prstDash val="solid"/>
          </a:ln>
        </p:spPr>
      </p:sp>
      <p:sp>
        <p:nvSpPr>
          <p:cNvPr id="17" name="Shape 15"/>
          <p:cNvSpPr/>
          <p:nvPr/>
        </p:nvSpPr>
        <p:spPr>
          <a:xfrm>
            <a:off x="6199632" y="1828800"/>
            <a:ext cx="566928" cy="566928"/>
          </a:xfrm>
          <a:prstGeom prst="ellipse">
            <a:avLst/>
          </a:prstGeom>
          <a:solidFill>
            <a:srgbClr val="2C5F2D"/>
          </a:solidFill>
          <a:ln/>
        </p:spPr>
      </p:sp>
      <p:sp>
        <p:nvSpPr>
          <p:cNvPr id="18" name="Text 16"/>
          <p:cNvSpPr txBox="1"/>
          <p:nvPr/>
        </p:nvSpPr>
        <p:spPr>
          <a:xfrm>
            <a:off x="6199632" y="181051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6199632" y="2542032"/>
            <a:ext cx="2560320" cy="256032"/>
          </a:xfrm>
          <a:prstGeom prst="rect">
            <a:avLst/>
          </a:prstGeom>
          <a:noFill/>
          <a:ln/>
        </p:spPr>
        <p:txBody>
          <a:bodyPr wrap="square" lIns="0" tIns="0" rIns="0" bIns="0" rtlCol="0" anchor="ctr"/>
          <a:lstStyle/>
          <a:p>
            <a:pPr indent="0" marL="0">
              <a:buNone/>
            </a:pPr>
            <a:r>
              <a:rPr lang="en-US" sz="1100" b="1" spc="150" kern="0" dirty="0">
                <a:solidFill>
                  <a:srgbClr val="6B7A6E"/>
                </a:solidFill>
                <a:latin typeface="Calibri" pitchFamily="34" charset="0"/>
                <a:ea typeface="Calibri" pitchFamily="34" charset="-122"/>
                <a:cs typeface="Calibri" pitchFamily="34" charset="-120"/>
              </a:rPr>
              <a:t>3 – 8 JUIN 2026</a:t>
            </a:r>
            <a:endParaRPr lang="en-US" sz="1100" dirty="0"/>
          </a:p>
        </p:txBody>
      </p:sp>
      <p:sp>
        <p:nvSpPr>
          <p:cNvPr id="20" name="Text 18"/>
          <p:cNvSpPr txBox="1"/>
          <p:nvPr/>
        </p:nvSpPr>
        <p:spPr>
          <a:xfrm>
            <a:off x="6199632" y="2798064"/>
            <a:ext cx="2560320" cy="566928"/>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Mission de terrain Biotope</a:t>
            </a:r>
            <a:endParaRPr lang="en-US" sz="1450" dirty="0"/>
          </a:p>
        </p:txBody>
      </p:sp>
      <p:sp>
        <p:nvSpPr>
          <p:cNvPr id="21" name="Text 19"/>
          <p:cNvSpPr txBox="1"/>
          <p:nvPr/>
        </p:nvSpPr>
        <p:spPr>
          <a:xfrm>
            <a:off x="6199632" y="3364992"/>
            <a:ext cx="2560320" cy="1188720"/>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Expertise biodiversité sur le tronçon Nonah – Gbamou ; consultation des trois villages traversés</a:t>
            </a:r>
            <a:endParaRPr lang="en-US" sz="1150" dirty="0"/>
          </a:p>
        </p:txBody>
      </p:sp>
      <p:sp>
        <p:nvSpPr>
          <p:cNvPr id="22" name="Shape 20"/>
          <p:cNvSpPr/>
          <p:nvPr/>
        </p:nvSpPr>
        <p:spPr>
          <a:xfrm>
            <a:off x="8979408" y="1828800"/>
            <a:ext cx="566928" cy="566928"/>
          </a:xfrm>
          <a:prstGeom prst="ellipse">
            <a:avLst/>
          </a:prstGeom>
          <a:solidFill>
            <a:srgbClr val="E8A33D"/>
          </a:solidFill>
          <a:ln/>
        </p:spPr>
      </p:sp>
      <p:sp>
        <p:nvSpPr>
          <p:cNvPr id="23" name="Text 21"/>
          <p:cNvSpPr txBox="1"/>
          <p:nvPr/>
        </p:nvSpPr>
        <p:spPr>
          <a:xfrm>
            <a:off x="8979408" y="181051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8979408" y="2542032"/>
            <a:ext cx="2560320" cy="256032"/>
          </a:xfrm>
          <a:prstGeom prst="rect">
            <a:avLst/>
          </a:prstGeom>
          <a:noFill/>
          <a:ln/>
        </p:spPr>
        <p:txBody>
          <a:bodyPr wrap="square" lIns="0" tIns="0" rIns="0" bIns="0" rtlCol="0" anchor="ctr"/>
          <a:lstStyle/>
          <a:p>
            <a:pPr indent="0" marL="0">
              <a:buNone/>
            </a:pPr>
            <a:r>
              <a:rPr lang="en-US" sz="1100" b="1" spc="150" kern="0" dirty="0">
                <a:solidFill>
                  <a:srgbClr val="A9741F"/>
                </a:solidFill>
                <a:latin typeface="Calibri" pitchFamily="34" charset="0"/>
                <a:ea typeface="Calibri" pitchFamily="34" charset="-122"/>
                <a:cs typeface="Calibri" pitchFamily="34" charset="-120"/>
              </a:rPr>
              <a:t>28 JUILLET 2026</a:t>
            </a:r>
            <a:endParaRPr lang="en-US" sz="1100" dirty="0"/>
          </a:p>
        </p:txBody>
      </p:sp>
      <p:sp>
        <p:nvSpPr>
          <p:cNvPr id="25" name="Text 23"/>
          <p:cNvSpPr txBox="1"/>
          <p:nvPr/>
        </p:nvSpPr>
        <p:spPr>
          <a:xfrm>
            <a:off x="8979408" y="2798064"/>
            <a:ext cx="2560320" cy="566928"/>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Condition levée</a:t>
            </a:r>
            <a:endParaRPr lang="en-US" sz="1450" dirty="0"/>
          </a:p>
        </p:txBody>
      </p:sp>
      <p:sp>
        <p:nvSpPr>
          <p:cNvPr id="26" name="Text 24"/>
          <p:cNvSpPr txBox="1"/>
          <p:nvPr/>
        </p:nvSpPr>
        <p:spPr>
          <a:xfrm>
            <a:off x="8979408" y="3364992"/>
            <a:ext cx="2560320" cy="1188720"/>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La note d’analyse confirme un niveau de risque sans commune mesure avec le tracé initial</a:t>
            </a:r>
            <a:endParaRPr lang="en-US" sz="1150" dirty="0"/>
          </a:p>
        </p:txBody>
      </p:sp>
      <p:sp>
        <p:nvSpPr>
          <p:cNvPr id="27" name="Shape 25"/>
          <p:cNvSpPr/>
          <p:nvPr/>
        </p:nvSpPr>
        <p:spPr>
          <a:xfrm>
            <a:off x="640080" y="5074920"/>
            <a:ext cx="10911535" cy="960120"/>
          </a:xfrm>
          <a:prstGeom prst="roundRect">
            <a:avLst>
              <a:gd name="adj" fmla="val 9524"/>
            </a:avLst>
          </a:prstGeom>
          <a:solidFill>
            <a:srgbClr val="16331A"/>
          </a:solidFill>
          <a:ln/>
        </p:spPr>
      </p:sp>
      <p:sp>
        <p:nvSpPr>
          <p:cNvPr id="28" name="Shape 26"/>
          <p:cNvSpPr/>
          <p:nvPr/>
        </p:nvSpPr>
        <p:spPr>
          <a:xfrm>
            <a:off x="914400" y="5257800"/>
            <a:ext cx="566928" cy="566928"/>
          </a:xfrm>
          <a:prstGeom prst="roundRect">
            <a:avLst>
              <a:gd name="adj" fmla="val 22000"/>
            </a:avLst>
          </a:prstGeom>
          <a:solidFill>
            <a:srgbClr val="2C5F2D"/>
          </a:solidFill>
          <a:ln/>
        </p:spPr>
      </p:sp>
      <p:pic>
        <p:nvPicPr>
          <p:cNvPr id="29" name="Image 0" descr="/tmp/claude-0/-home-user-ZION/aed2737c-8fe1-5a52-9c9c-85dc1ebe3ccb/scratchpad/icons/scale-w.png">    </p:cNvPr>
          <p:cNvPicPr>
            <a:picLocks noChangeAspect="1"/>
          </p:cNvPicPr>
          <p:nvPr/>
        </p:nvPicPr>
        <p:blipFill>
          <a:blip r:embed="rId1"/>
          <a:stretch>
            <a:fillRect/>
          </a:stretch>
        </p:blipFill>
        <p:spPr>
          <a:xfrm>
            <a:off x="1061801" y="5405201"/>
            <a:ext cx="272125" cy="272125"/>
          </a:xfrm>
          <a:prstGeom prst="rect">
            <a:avLst/>
          </a:prstGeom>
        </p:spPr>
      </p:pic>
      <p:sp>
        <p:nvSpPr>
          <p:cNvPr id="30" name="Text 27"/>
          <p:cNvSpPr txBox="1"/>
          <p:nvPr/>
        </p:nvSpPr>
        <p:spPr>
          <a:xfrm>
            <a:off x="1691640" y="5074920"/>
            <a:ext cx="9539935" cy="9601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L’EIES est établie sur la base d’un classement en catégorie B </a:t>
            </a:r>
            <a:pPr indent="0" marL="0">
              <a:buNone/>
            </a:pPr>
            <a:r>
              <a:rPr lang="en-US" sz="1300" dirty="0">
                <a:solidFill>
                  <a:srgbClr val="FFFFFF"/>
                </a:solidFill>
                <a:latin typeface="Calibri" pitchFamily="34" charset="0"/>
                <a:ea typeface="Calibri" pitchFamily="34" charset="-122"/>
                <a:cs typeface="Calibri" pitchFamily="34" charset="-120"/>
              </a:rPr>
              <a:t>(risques E&amp;S modérés). Le reclassement ne réduit ni le contenu ni le niveau d’exigence du PGES : l’ensemble des mesures est maintenu, condition du maintien du classement dans la durée.</a:t>
            </a:r>
            <a:endParaRPr lang="en-US" sz="1300" dirty="0"/>
          </a:p>
        </p:txBody>
      </p:sp>
      <p:sp>
        <p:nvSpPr>
          <p:cNvPr id="31" name="Text 28"/>
          <p:cNvSpPr txBox="1"/>
          <p:nvPr/>
        </p:nvSpPr>
        <p:spPr>
          <a:xfrm>
            <a:off x="640080" y="6446520"/>
            <a:ext cx="4572000" cy="274320"/>
          </a:xfrm>
          <a:prstGeom prst="rect">
            <a:avLst/>
          </a:prstGeom>
          <a:noFill/>
          <a:ln/>
        </p:spPr>
        <p:txBody>
          <a:bodyPr wrap="square" lIns="0" tIns="0" rIns="0" bIns="0" rtlCol="0" anchor="ctr"/>
          <a:lstStyle/>
          <a:p>
            <a:pPr algn="l" indent="0" marL="0">
              <a:buNone/>
            </a:pPr>
            <a:r>
              <a:rPr lang="en-US" sz="1000" dirty="0">
                <a:solidFill>
                  <a:srgbClr val="6B7A6E"/>
                </a:solidFill>
                <a:latin typeface="Calibri" pitchFamily="34" charset="0"/>
                <a:ea typeface="Calibri" pitchFamily="34" charset="-122"/>
                <a:cs typeface="Calibri" pitchFamily="34" charset="-120"/>
              </a:rPr>
              <a:t>PAAEGF • Volet E&amp;S — Réunion mensuelle № 2</a:t>
            </a:r>
            <a:endParaRPr lang="en-US" sz="1000" dirty="0"/>
          </a:p>
        </p:txBody>
      </p:sp>
      <p:sp>
        <p:nvSpPr>
          <p:cNvPr id="32" name="Text 29"/>
          <p:cNvSpPr txBox="1"/>
          <p:nvPr/>
        </p:nvSpPr>
        <p:spPr>
          <a:xfrm>
            <a:off x="11002975" y="6446520"/>
            <a:ext cx="548640" cy="274320"/>
          </a:xfrm>
          <a:prstGeom prst="rect">
            <a:avLst/>
          </a:prstGeom>
          <a:noFill/>
          <a:ln/>
        </p:spPr>
        <p:txBody>
          <a:bodyPr wrap="square" lIns="0" tIns="0" rIns="0" bIns="0" rtlCol="0" anchor="ctr"/>
          <a:lstStyle/>
          <a:p>
            <a:pPr algn="r" indent="0" marL="0">
              <a:buNone/>
            </a:pPr>
            <a:r>
              <a:rPr lang="en-US" sz="1000" dirty="0">
                <a:solidFill>
                  <a:srgbClr val="6B7A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331A"/>
        </a:solidFill>
      </p:bgPr>
    </p:bg>
    <p:spTree>
      <p:nvGrpSpPr>
        <p:cNvPr id="1" name=""/>
        <p:cNvGrpSpPr/>
        <p:nvPr/>
      </p:nvGrpSpPr>
      <p:grpSpPr>
        <a:xfrm>
          <a:off x="0" y="0"/>
          <a:ext cx="0" cy="0"/>
          <a:chOff x="0" y="0"/>
          <a:chExt cx="0" cy="0"/>
        </a:xfrm>
      </p:grpSpPr>
      <p:sp>
        <p:nvSpPr>
          <p:cNvPr id="2" name="Text 0"/>
          <p:cNvSpPr txBox="1"/>
          <p:nvPr/>
        </p:nvSpPr>
        <p:spPr>
          <a:xfrm>
            <a:off x="640080" y="347472"/>
            <a:ext cx="10911535"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POINT D’ATTENTION MAJEUR</a:t>
            </a:r>
            <a:endParaRPr lang="en-US" sz="12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L’ANO sur l’EIES, clé de la validation nationale</a:t>
            </a:r>
            <a:endParaRPr lang="en-US" sz="2800" dirty="0"/>
          </a:p>
        </p:txBody>
      </p:sp>
      <p:sp>
        <p:nvSpPr>
          <p:cNvPr id="4" name="Shape 2"/>
          <p:cNvSpPr/>
          <p:nvPr/>
        </p:nvSpPr>
        <p:spPr>
          <a:xfrm>
            <a:off x="640080" y="1481328"/>
            <a:ext cx="10911535" cy="868680"/>
          </a:xfrm>
          <a:prstGeom prst="roundRect">
            <a:avLst>
              <a:gd name="adj" fmla="val 10526"/>
            </a:avLst>
          </a:prstGeom>
          <a:solidFill>
            <a:srgbClr val="20402A"/>
          </a:solidFill>
          <a:ln/>
        </p:spPr>
      </p:sp>
      <p:sp>
        <p:nvSpPr>
          <p:cNvPr id="5" name="Shape 3"/>
          <p:cNvSpPr/>
          <p:nvPr/>
        </p:nvSpPr>
        <p:spPr>
          <a:xfrm>
            <a:off x="896112" y="1641348"/>
            <a:ext cx="566928" cy="566928"/>
          </a:xfrm>
          <a:prstGeom prst="roundRect">
            <a:avLst>
              <a:gd name="adj" fmla="val 22000"/>
            </a:avLst>
          </a:prstGeom>
          <a:solidFill>
            <a:srgbClr val="E8A33D"/>
          </a:solidFill>
          <a:ln/>
        </p:spPr>
      </p:sp>
      <p:pic>
        <p:nvPicPr>
          <p:cNvPr id="6" name="Image 0" descr="/tmp/claude-0/-home-user-ZION/aed2737c-8fe1-5a52-9c9c-85dc1ebe3ccb/scratchpad/icons/warning-w.png">    </p:cNvPr>
          <p:cNvPicPr>
            <a:picLocks noChangeAspect="1"/>
          </p:cNvPicPr>
          <p:nvPr/>
        </p:nvPicPr>
        <p:blipFill>
          <a:blip r:embed="rId1"/>
          <a:stretch>
            <a:fillRect/>
          </a:stretch>
        </p:blipFill>
        <p:spPr>
          <a:xfrm>
            <a:off x="1043513" y="1788749"/>
            <a:ext cx="272125" cy="272125"/>
          </a:xfrm>
          <a:prstGeom prst="rect">
            <a:avLst/>
          </a:prstGeom>
        </p:spPr>
      </p:pic>
      <p:sp>
        <p:nvSpPr>
          <p:cNvPr id="7" name="Text 4"/>
          <p:cNvSpPr txBox="1"/>
          <p:nvPr/>
        </p:nvSpPr>
        <p:spPr>
          <a:xfrm>
            <a:off x="1664208" y="1481328"/>
            <a:ext cx="9539935" cy="86868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La plus grande préoccupation à date : </a:t>
            </a:r>
            <a:pPr indent="0" marL="0">
              <a:buNone/>
            </a:pPr>
            <a:r>
              <a:rPr lang="en-US" sz="1400" dirty="0">
                <a:solidFill>
                  <a:srgbClr val="FFFFFF"/>
                </a:solidFill>
                <a:latin typeface="Calibri" pitchFamily="34" charset="0"/>
                <a:ea typeface="Calibri" pitchFamily="34" charset="-122"/>
                <a:cs typeface="Calibri" pitchFamily="34" charset="-120"/>
              </a:rPr>
              <a:t>l’avis de non-objection de l’AFD sur l’EIES actualisée est attendu pour engager la procédure de validation nationale auprès de l’AGEE.</a:t>
            </a:r>
            <a:endParaRPr lang="en-US" sz="1400" dirty="0"/>
          </a:p>
        </p:txBody>
      </p:sp>
      <p:sp>
        <p:nvSpPr>
          <p:cNvPr id="8" name="Text 5"/>
          <p:cNvSpPr txBox="1"/>
          <p:nvPr/>
        </p:nvSpPr>
        <p:spPr>
          <a:xfrm>
            <a:off x="640080" y="2670048"/>
            <a:ext cx="5486400" cy="256032"/>
          </a:xfrm>
          <a:prstGeom prst="rect">
            <a:avLst/>
          </a:prstGeom>
          <a:noFill/>
          <a:ln/>
        </p:spPr>
        <p:txBody>
          <a:bodyPr wrap="square" lIns="0" tIns="0" rIns="0" bIns="0" rtlCol="0" anchor="ctr"/>
          <a:lstStyle/>
          <a:p>
            <a:pPr indent="0" marL="0">
              <a:buNone/>
            </a:pPr>
            <a:r>
              <a:rPr lang="en-US" sz="1100" b="1" spc="250" kern="0" dirty="0">
                <a:solidFill>
                  <a:srgbClr val="E8A33D"/>
                </a:solidFill>
                <a:latin typeface="Calibri" pitchFamily="34" charset="0"/>
                <a:ea typeface="Calibri" pitchFamily="34" charset="-122"/>
                <a:cs typeface="Calibri" pitchFamily="34" charset="-120"/>
              </a:rPr>
              <a:t>CHEMIN CRITIQUE</a:t>
            </a:r>
            <a:endParaRPr lang="en-US" sz="1100" dirty="0"/>
          </a:p>
        </p:txBody>
      </p:sp>
      <p:sp>
        <p:nvSpPr>
          <p:cNvPr id="9" name="Shape 6"/>
          <p:cNvSpPr/>
          <p:nvPr/>
        </p:nvSpPr>
        <p:spPr>
          <a:xfrm>
            <a:off x="640080" y="2999232"/>
            <a:ext cx="2514600" cy="1417320"/>
          </a:xfrm>
          <a:prstGeom prst="roundRect">
            <a:avLst>
              <a:gd name="adj" fmla="val 5806"/>
            </a:avLst>
          </a:prstGeom>
          <a:solidFill>
            <a:srgbClr val="E8A33D"/>
          </a:solidFill>
          <a:ln/>
        </p:spPr>
      </p:sp>
      <p:sp>
        <p:nvSpPr>
          <p:cNvPr id="10" name="Text 7"/>
          <p:cNvSpPr txBox="1"/>
          <p:nvPr/>
        </p:nvSpPr>
        <p:spPr>
          <a:xfrm>
            <a:off x="841248" y="3127248"/>
            <a:ext cx="457200" cy="320040"/>
          </a:xfrm>
          <a:prstGeom prst="rect">
            <a:avLst/>
          </a:prstGeom>
          <a:noFill/>
          <a:ln/>
        </p:spPr>
        <p:txBody>
          <a:bodyPr wrap="square" lIns="0" tIns="0" rIns="0" bIns="0" rtlCol="0" anchor="ctr"/>
          <a:lstStyle/>
          <a:p>
            <a:pPr indent="0" marL="0">
              <a:buNone/>
            </a:pPr>
            <a:r>
              <a:rPr lang="en-US" sz="1800" b="1" dirty="0">
                <a:solidFill>
                  <a:srgbClr val="16331A"/>
                </a:solidFill>
                <a:latin typeface="Cambria" pitchFamily="34" charset="0"/>
                <a:ea typeface="Cambria" pitchFamily="34" charset="-122"/>
                <a:cs typeface="Cambria" pitchFamily="34" charset="-120"/>
              </a:rPr>
              <a:t>1</a:t>
            </a:r>
            <a:endParaRPr lang="en-US" sz="1800" dirty="0"/>
          </a:p>
        </p:txBody>
      </p:sp>
      <p:sp>
        <p:nvSpPr>
          <p:cNvPr id="11" name="Text 8"/>
          <p:cNvSpPr txBox="1"/>
          <p:nvPr/>
        </p:nvSpPr>
        <p:spPr>
          <a:xfrm>
            <a:off x="841248" y="3456432"/>
            <a:ext cx="2112264" cy="475488"/>
          </a:xfrm>
          <a:prstGeom prst="rect">
            <a:avLst/>
          </a:prstGeom>
          <a:noFill/>
          <a:ln/>
        </p:spPr>
        <p:txBody>
          <a:bodyPr wrap="square" lIns="0" tIns="0" rIns="0" bIns="0" rtlCol="0" anchor="ctr"/>
          <a:lstStyle/>
          <a:p>
            <a:pPr indent="0" marL="0">
              <a:buNone/>
            </a:pPr>
            <a:r>
              <a:rPr lang="en-US" sz="1400" b="1" dirty="0">
                <a:solidFill>
                  <a:srgbClr val="16331A"/>
                </a:solidFill>
                <a:latin typeface="Cambria" pitchFamily="34" charset="0"/>
                <a:ea typeface="Cambria" pitchFamily="34" charset="-122"/>
                <a:cs typeface="Cambria" pitchFamily="34" charset="-120"/>
              </a:rPr>
              <a:t>ANO de l’AFD</a:t>
            </a:r>
            <a:endParaRPr lang="en-US" sz="1400" dirty="0"/>
          </a:p>
        </p:txBody>
      </p:sp>
      <p:sp>
        <p:nvSpPr>
          <p:cNvPr id="12" name="Text 9"/>
          <p:cNvSpPr txBox="1"/>
          <p:nvPr/>
        </p:nvSpPr>
        <p:spPr>
          <a:xfrm>
            <a:off x="841248" y="3913632"/>
            <a:ext cx="2112264" cy="457200"/>
          </a:xfrm>
          <a:prstGeom prst="rect">
            <a:avLst/>
          </a:prstGeom>
          <a:noFill/>
          <a:ln/>
        </p:spPr>
        <p:txBody>
          <a:bodyPr wrap="square" lIns="0" tIns="0" rIns="0" bIns="0" rtlCol="0" anchor="ctr"/>
          <a:lstStyle/>
          <a:p>
            <a:pPr indent="0" marL="0">
              <a:buNone/>
            </a:pPr>
            <a:r>
              <a:rPr lang="en-US" sz="1050" dirty="0">
                <a:solidFill>
                  <a:srgbClr val="3D3117"/>
                </a:solidFill>
                <a:latin typeface="Calibri" pitchFamily="34" charset="0"/>
                <a:ea typeface="Calibri" pitchFamily="34" charset="-122"/>
                <a:cs typeface="Calibri" pitchFamily="34" charset="-120"/>
              </a:rPr>
              <a:t>sur l’EIES / PGES actualisés</a:t>
            </a:r>
            <a:endParaRPr lang="en-US" sz="1050" dirty="0"/>
          </a:p>
        </p:txBody>
      </p:sp>
      <p:sp>
        <p:nvSpPr>
          <p:cNvPr id="13" name="Text 10"/>
          <p:cNvSpPr txBox="1"/>
          <p:nvPr/>
        </p:nvSpPr>
        <p:spPr>
          <a:xfrm>
            <a:off x="3136392" y="3547872"/>
            <a:ext cx="320040" cy="36576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a:t>
            </a:r>
            <a:endParaRPr lang="en-US" sz="1600" dirty="0"/>
          </a:p>
        </p:txBody>
      </p:sp>
      <p:sp>
        <p:nvSpPr>
          <p:cNvPr id="14" name="Shape 11"/>
          <p:cNvSpPr/>
          <p:nvPr/>
        </p:nvSpPr>
        <p:spPr>
          <a:xfrm>
            <a:off x="3438144" y="2999232"/>
            <a:ext cx="2514600" cy="1417320"/>
          </a:xfrm>
          <a:prstGeom prst="roundRect">
            <a:avLst>
              <a:gd name="adj" fmla="val 5806"/>
            </a:avLst>
          </a:prstGeom>
          <a:solidFill>
            <a:srgbClr val="20402A"/>
          </a:solidFill>
          <a:ln/>
        </p:spPr>
      </p:sp>
      <p:sp>
        <p:nvSpPr>
          <p:cNvPr id="15" name="Text 12"/>
          <p:cNvSpPr txBox="1"/>
          <p:nvPr/>
        </p:nvSpPr>
        <p:spPr>
          <a:xfrm>
            <a:off x="3639312" y="3127248"/>
            <a:ext cx="457200" cy="32004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2</a:t>
            </a:r>
            <a:endParaRPr lang="en-US" sz="1800" dirty="0"/>
          </a:p>
        </p:txBody>
      </p:sp>
      <p:sp>
        <p:nvSpPr>
          <p:cNvPr id="16" name="Text 13"/>
          <p:cNvSpPr txBox="1"/>
          <p:nvPr/>
        </p:nvSpPr>
        <p:spPr>
          <a:xfrm>
            <a:off x="3639312" y="3456432"/>
            <a:ext cx="2112264" cy="47548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Validation nationale</a:t>
            </a:r>
            <a:endParaRPr lang="en-US" sz="1400" dirty="0"/>
          </a:p>
        </p:txBody>
      </p:sp>
      <p:sp>
        <p:nvSpPr>
          <p:cNvPr id="17" name="Text 14"/>
          <p:cNvSpPr txBox="1"/>
          <p:nvPr/>
        </p:nvSpPr>
        <p:spPr>
          <a:xfrm>
            <a:off x="3639312" y="3913632"/>
            <a:ext cx="2112264" cy="457200"/>
          </a:xfrm>
          <a:prstGeom prst="rect">
            <a:avLst/>
          </a:prstGeom>
          <a:noFill/>
          <a:ln/>
        </p:spPr>
        <p:txBody>
          <a:bodyPr wrap="square" lIns="0" tIns="0" rIns="0" bIns="0" rtlCol="0" anchor="ctr"/>
          <a:lstStyle/>
          <a:p>
            <a:pPr indent="0" marL="0">
              <a:buNone/>
            </a:pPr>
            <a:r>
              <a:rPr lang="en-US" sz="1050" dirty="0">
                <a:solidFill>
                  <a:srgbClr val="C9D8CC"/>
                </a:solidFill>
                <a:latin typeface="Calibri" pitchFamily="34" charset="0"/>
                <a:ea typeface="Calibri" pitchFamily="34" charset="-122"/>
                <a:cs typeface="Calibri" pitchFamily="34" charset="-120"/>
              </a:rPr>
              <a:t>instruction AGEE et enquête publique</a:t>
            </a:r>
            <a:endParaRPr lang="en-US" sz="1050" dirty="0"/>
          </a:p>
        </p:txBody>
      </p:sp>
      <p:sp>
        <p:nvSpPr>
          <p:cNvPr id="18" name="Text 15"/>
          <p:cNvSpPr txBox="1"/>
          <p:nvPr/>
        </p:nvSpPr>
        <p:spPr>
          <a:xfrm>
            <a:off x="5934456" y="3547872"/>
            <a:ext cx="320040" cy="36576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a:t>
            </a:r>
            <a:endParaRPr lang="en-US" sz="1600" dirty="0"/>
          </a:p>
        </p:txBody>
      </p:sp>
      <p:sp>
        <p:nvSpPr>
          <p:cNvPr id="19" name="Shape 16"/>
          <p:cNvSpPr/>
          <p:nvPr/>
        </p:nvSpPr>
        <p:spPr>
          <a:xfrm>
            <a:off x="6236208" y="2999232"/>
            <a:ext cx="2514600" cy="1417320"/>
          </a:xfrm>
          <a:prstGeom prst="roundRect">
            <a:avLst>
              <a:gd name="adj" fmla="val 5806"/>
            </a:avLst>
          </a:prstGeom>
          <a:solidFill>
            <a:srgbClr val="20402A"/>
          </a:solidFill>
          <a:ln/>
        </p:spPr>
      </p:sp>
      <p:sp>
        <p:nvSpPr>
          <p:cNvPr id="20" name="Text 17"/>
          <p:cNvSpPr txBox="1"/>
          <p:nvPr/>
        </p:nvSpPr>
        <p:spPr>
          <a:xfrm>
            <a:off x="6437376" y="3127248"/>
            <a:ext cx="457200" cy="32004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3</a:t>
            </a:r>
            <a:endParaRPr lang="en-US" sz="1800" dirty="0"/>
          </a:p>
        </p:txBody>
      </p:sp>
      <p:sp>
        <p:nvSpPr>
          <p:cNvPr id="21" name="Text 18"/>
          <p:cNvSpPr txBox="1"/>
          <p:nvPr/>
        </p:nvSpPr>
        <p:spPr>
          <a:xfrm>
            <a:off x="6437376" y="3456432"/>
            <a:ext cx="2112264" cy="47548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Certificat de conformité</a:t>
            </a:r>
            <a:endParaRPr lang="en-US" sz="1400" dirty="0"/>
          </a:p>
        </p:txBody>
      </p:sp>
      <p:sp>
        <p:nvSpPr>
          <p:cNvPr id="22" name="Text 19"/>
          <p:cNvSpPr txBox="1"/>
          <p:nvPr/>
        </p:nvSpPr>
        <p:spPr>
          <a:xfrm>
            <a:off x="6437376" y="3913632"/>
            <a:ext cx="2112264" cy="457200"/>
          </a:xfrm>
          <a:prstGeom prst="rect">
            <a:avLst/>
          </a:prstGeom>
          <a:noFill/>
          <a:ln/>
        </p:spPr>
        <p:txBody>
          <a:bodyPr wrap="square" lIns="0" tIns="0" rIns="0" bIns="0" rtlCol="0" anchor="ctr"/>
          <a:lstStyle/>
          <a:p>
            <a:pPr indent="0" marL="0">
              <a:buNone/>
            </a:pPr>
            <a:r>
              <a:rPr lang="en-US" sz="1050" dirty="0">
                <a:solidFill>
                  <a:srgbClr val="C9D8CC"/>
                </a:solidFill>
                <a:latin typeface="Calibri" pitchFamily="34" charset="0"/>
                <a:ea typeface="Calibri" pitchFamily="34" charset="-122"/>
                <a:cs typeface="Calibri" pitchFamily="34" charset="-120"/>
              </a:rPr>
              <a:t>actualisation de l’autorisation environnementale</a:t>
            </a:r>
            <a:endParaRPr lang="en-US" sz="1050" dirty="0"/>
          </a:p>
        </p:txBody>
      </p:sp>
      <p:sp>
        <p:nvSpPr>
          <p:cNvPr id="23" name="Text 20"/>
          <p:cNvSpPr txBox="1"/>
          <p:nvPr/>
        </p:nvSpPr>
        <p:spPr>
          <a:xfrm>
            <a:off x="8732520" y="3547872"/>
            <a:ext cx="320040" cy="36576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a:t>
            </a:r>
            <a:endParaRPr lang="en-US" sz="1600" dirty="0"/>
          </a:p>
        </p:txBody>
      </p:sp>
      <p:sp>
        <p:nvSpPr>
          <p:cNvPr id="24" name="Shape 21"/>
          <p:cNvSpPr/>
          <p:nvPr/>
        </p:nvSpPr>
        <p:spPr>
          <a:xfrm>
            <a:off x="9034272" y="2999232"/>
            <a:ext cx="2514600" cy="1417320"/>
          </a:xfrm>
          <a:prstGeom prst="roundRect">
            <a:avLst>
              <a:gd name="adj" fmla="val 5806"/>
            </a:avLst>
          </a:prstGeom>
          <a:solidFill>
            <a:srgbClr val="20402A"/>
          </a:solidFill>
          <a:ln/>
        </p:spPr>
      </p:sp>
      <p:sp>
        <p:nvSpPr>
          <p:cNvPr id="25" name="Text 22"/>
          <p:cNvSpPr txBox="1"/>
          <p:nvPr/>
        </p:nvSpPr>
        <p:spPr>
          <a:xfrm>
            <a:off x="9235440" y="3127248"/>
            <a:ext cx="457200" cy="32004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4</a:t>
            </a:r>
            <a:endParaRPr lang="en-US" sz="1800" dirty="0"/>
          </a:p>
        </p:txBody>
      </p:sp>
      <p:sp>
        <p:nvSpPr>
          <p:cNvPr id="26" name="Text 23"/>
          <p:cNvSpPr txBox="1"/>
          <p:nvPr/>
        </p:nvSpPr>
        <p:spPr>
          <a:xfrm>
            <a:off x="9235440" y="3456432"/>
            <a:ext cx="2112264" cy="47548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1er décaissement — Comp. 1</a:t>
            </a:r>
            <a:endParaRPr lang="en-US" sz="1400" dirty="0"/>
          </a:p>
        </p:txBody>
      </p:sp>
      <p:sp>
        <p:nvSpPr>
          <p:cNvPr id="27" name="Text 24"/>
          <p:cNvSpPr txBox="1"/>
          <p:nvPr/>
        </p:nvSpPr>
        <p:spPr>
          <a:xfrm>
            <a:off x="9235440" y="3913632"/>
            <a:ext cx="2112264" cy="457200"/>
          </a:xfrm>
          <a:prstGeom prst="rect">
            <a:avLst/>
          </a:prstGeom>
          <a:noFill/>
          <a:ln/>
        </p:spPr>
        <p:txBody>
          <a:bodyPr wrap="square" lIns="0" tIns="0" rIns="0" bIns="0" rtlCol="0" anchor="ctr"/>
          <a:lstStyle/>
          <a:p>
            <a:pPr indent="0" marL="0">
              <a:buNone/>
            </a:pPr>
            <a:r>
              <a:rPr lang="en-US" sz="1050" dirty="0">
                <a:solidFill>
                  <a:srgbClr val="C9D8CC"/>
                </a:solidFill>
                <a:latin typeface="Calibri" pitchFamily="34" charset="0"/>
                <a:ea typeface="Calibri" pitchFamily="34" charset="-122"/>
                <a:cs typeface="Calibri" pitchFamily="34" charset="-120"/>
              </a:rPr>
              <a:t>condition suspensive levée, lancement des travaux préparé</a:t>
            </a:r>
            <a:endParaRPr lang="en-US" sz="1050" dirty="0"/>
          </a:p>
        </p:txBody>
      </p:sp>
      <p:sp>
        <p:nvSpPr>
          <p:cNvPr id="28" name="Text 25"/>
          <p:cNvSpPr txBox="1"/>
          <p:nvPr/>
        </p:nvSpPr>
        <p:spPr>
          <a:xfrm>
            <a:off x="640080" y="4800600"/>
            <a:ext cx="8229600" cy="256032"/>
          </a:xfrm>
          <a:prstGeom prst="rect">
            <a:avLst/>
          </a:prstGeom>
          <a:noFill/>
          <a:ln/>
        </p:spPr>
        <p:txBody>
          <a:bodyPr wrap="square" lIns="0" tIns="0" rIns="0" bIns="0" rtlCol="0" anchor="ctr"/>
          <a:lstStyle/>
          <a:p>
            <a:pPr indent="0" marL="0">
              <a:buNone/>
            </a:pPr>
            <a:r>
              <a:rPr lang="en-US" sz="1100" b="1" spc="250" kern="0" dirty="0">
                <a:solidFill>
                  <a:srgbClr val="E8A33D"/>
                </a:solidFill>
                <a:latin typeface="Calibri" pitchFamily="34" charset="0"/>
                <a:ea typeface="Calibri" pitchFamily="34" charset="-122"/>
                <a:cs typeface="Calibri" pitchFamily="34" charset="-120"/>
              </a:rPr>
              <a:t>EN PARALLÈLE — PIÈCES JUSTIFICATIVES EN COURS DE COLLECTE</a:t>
            </a:r>
            <a:endParaRPr lang="en-US" sz="1100" dirty="0"/>
          </a:p>
        </p:txBody>
      </p:sp>
      <p:sp>
        <p:nvSpPr>
          <p:cNvPr id="29" name="Text 26"/>
          <p:cNvSpPr txBox="1"/>
          <p:nvPr/>
        </p:nvSpPr>
        <p:spPr>
          <a:xfrm>
            <a:off x="640080" y="5102352"/>
            <a:ext cx="10911535" cy="1143000"/>
          </a:xfrm>
          <a:prstGeom prst="rect">
            <a:avLst/>
          </a:prstGeom>
          <a:noFill/>
          <a:ln/>
        </p:spPr>
        <p:txBody>
          <a:bodyPr wrap="square" lIns="0" tIns="0" rIns="0" bIns="0" rtlCol="0" anchor="t"/>
          <a:lstStyle/>
          <a:p>
            <a:pPr marL="127000" indent="-127000">
              <a:spcAft>
                <a:spcPts val="600"/>
              </a:spcAft>
              <a:buSzPct val="100000"/>
              <a:buChar char="•"/>
            </a:pPr>
            <a:r>
              <a:rPr lang="en-US" sz="1250" dirty="0">
                <a:solidFill>
                  <a:srgbClr val="DCE7DD"/>
                </a:solidFill>
                <a:latin typeface="Calibri" pitchFamily="34" charset="0"/>
                <a:ea typeface="Calibri" pitchFamily="34" charset="-122"/>
                <a:cs typeface="Calibri" pitchFamily="34" charset="-120"/>
              </a:rPr>
              <a:t>Attestation AGEROUTE Guinée SA : classement de l’axe et emprise réservée de 40 m sur la section Péla – Diécké.</a:t>
            </a:r>
            <a:endParaRPr lang="en-US" sz="1250" dirty="0"/>
          </a:p>
          <a:p>
            <a:pPr marL="127000" indent="-127000">
              <a:spcAft>
                <a:spcPts val="600"/>
              </a:spcAft>
              <a:buSzPct val="100000"/>
              <a:buChar char="•"/>
            </a:pPr>
            <a:r>
              <a:rPr lang="en-US" sz="1250" dirty="0">
                <a:solidFill>
                  <a:srgbClr val="DCE7DD"/>
                </a:solidFill>
                <a:latin typeface="Calibri" pitchFamily="34" charset="0"/>
                <a:ea typeface="Calibri" pitchFamily="34" charset="-122"/>
                <a:cs typeface="Calibri" pitchFamily="34" charset="-120"/>
              </a:rPr>
              <a:t>Attestation cartographique DNEF / OGUIPAR : positionnement du tracé au regard du zonage de la forêt classée de Diécké.</a:t>
            </a:r>
            <a:endParaRPr lang="en-US" sz="1250" dirty="0"/>
          </a:p>
          <a:p>
            <a:pPr marL="127000" indent="-127000">
              <a:buSzPct val="100000"/>
              <a:buChar char="•"/>
            </a:pPr>
            <a:r>
              <a:rPr lang="en-US" sz="1250" dirty="0">
                <a:solidFill>
                  <a:srgbClr val="DCE7DD"/>
                </a:solidFill>
                <a:latin typeface="Calibri" pitchFamily="34" charset="0"/>
                <a:ea typeface="Calibri" pitchFamily="34" charset="-122"/>
                <a:cs typeface="Calibri" pitchFamily="34" charset="-120"/>
              </a:rPr>
              <a:t>Formulations conservatoires déjà retenues dans l’EIES : ces pièces consolideront le rapport sans conditionner l’ANO.</a:t>
            </a:r>
            <a:endParaRPr lang="en-US" sz="1250" dirty="0"/>
          </a:p>
        </p:txBody>
      </p:sp>
      <p:sp>
        <p:nvSpPr>
          <p:cNvPr id="30" name="Text 27"/>
          <p:cNvSpPr txBox="1"/>
          <p:nvPr/>
        </p:nvSpPr>
        <p:spPr>
          <a:xfrm>
            <a:off x="640080" y="6446520"/>
            <a:ext cx="4572000" cy="274320"/>
          </a:xfrm>
          <a:prstGeom prst="rect">
            <a:avLst/>
          </a:prstGeom>
          <a:noFill/>
          <a:ln/>
        </p:spPr>
        <p:txBody>
          <a:bodyPr wrap="square" lIns="0" tIns="0" rIns="0" bIns="0" rtlCol="0" anchor="ctr"/>
          <a:lstStyle/>
          <a:p>
            <a:pPr algn="l" indent="0" marL="0">
              <a:buNone/>
            </a:pPr>
            <a:r>
              <a:rPr lang="en-US" sz="1000" dirty="0">
                <a:solidFill>
                  <a:srgbClr val="6B7A6E"/>
                </a:solidFill>
                <a:latin typeface="Calibri" pitchFamily="34" charset="0"/>
                <a:ea typeface="Calibri" pitchFamily="34" charset="-122"/>
                <a:cs typeface="Calibri" pitchFamily="34" charset="-120"/>
              </a:rPr>
              <a:t>PAAEGF • Volet E&amp;S — Réunion mensuelle № 2</a:t>
            </a:r>
            <a:endParaRPr lang="en-US" sz="1000" dirty="0"/>
          </a:p>
        </p:txBody>
      </p:sp>
      <p:sp>
        <p:nvSpPr>
          <p:cNvPr id="31" name="Text 28"/>
          <p:cNvSpPr txBox="1"/>
          <p:nvPr/>
        </p:nvSpPr>
        <p:spPr>
          <a:xfrm>
            <a:off x="11002975" y="6446520"/>
            <a:ext cx="548640" cy="274320"/>
          </a:xfrm>
          <a:prstGeom prst="rect">
            <a:avLst/>
          </a:prstGeom>
          <a:noFill/>
          <a:ln/>
        </p:spPr>
        <p:txBody>
          <a:bodyPr wrap="square" lIns="0" tIns="0" rIns="0" bIns="0" rtlCol="0" anchor="ctr"/>
          <a:lstStyle/>
          <a:p>
            <a:pPr algn="r" indent="0" marL="0">
              <a:buNone/>
            </a:pPr>
            <a:r>
              <a:rPr lang="en-US" sz="1000" dirty="0">
                <a:solidFill>
                  <a:srgbClr val="6B7A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47472"/>
            <a:ext cx="10911535"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MOYENS DE MISE EN ŒUVRE</a:t>
            </a:r>
            <a:endParaRPr lang="en-US" sz="12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Mobilisation de la MOE et reboisement compensatoire</a:t>
            </a:r>
            <a:endParaRPr lang="en-US" sz="2800" dirty="0"/>
          </a:p>
        </p:txBody>
      </p:sp>
      <p:sp>
        <p:nvSpPr>
          <p:cNvPr id="4" name="Shape 2"/>
          <p:cNvSpPr/>
          <p:nvPr/>
        </p:nvSpPr>
        <p:spPr>
          <a:xfrm>
            <a:off x="640080" y="1481328"/>
            <a:ext cx="5303520" cy="4114800"/>
          </a:xfrm>
          <a:prstGeom prst="roundRect">
            <a:avLst>
              <a:gd name="adj" fmla="val 2222"/>
            </a:avLst>
          </a:prstGeom>
          <a:solidFill>
            <a:srgbClr val="F4F7EF"/>
          </a:solidFill>
          <a:ln/>
        </p:spPr>
      </p:sp>
      <p:sp>
        <p:nvSpPr>
          <p:cNvPr id="5" name="Shape 3"/>
          <p:cNvSpPr/>
          <p:nvPr/>
        </p:nvSpPr>
        <p:spPr>
          <a:xfrm>
            <a:off x="914400" y="1755648"/>
            <a:ext cx="502920" cy="502920"/>
          </a:xfrm>
          <a:prstGeom prst="roundRect">
            <a:avLst>
              <a:gd name="adj" fmla="val 22000"/>
            </a:avLst>
          </a:prstGeom>
          <a:solidFill>
            <a:srgbClr val="2C5F2D"/>
          </a:solidFill>
          <a:ln/>
        </p:spPr>
      </p:sp>
      <p:pic>
        <p:nvPicPr>
          <p:cNvPr id="6" name="Image 0" descr="/tmp/claude-0/-home-user-ZION/aed2737c-8fe1-5a52-9c9c-85dc1ebe3ccb/scratchpad/icons/usersgear-w.png">    </p:cNvPr>
          <p:cNvPicPr>
            <a:picLocks noChangeAspect="1"/>
          </p:cNvPicPr>
          <p:nvPr/>
        </p:nvPicPr>
        <p:blipFill>
          <a:blip r:embed="rId1"/>
          <a:stretch>
            <a:fillRect/>
          </a:stretch>
        </p:blipFill>
        <p:spPr>
          <a:xfrm>
            <a:off x="1045159" y="1886407"/>
            <a:ext cx="241402" cy="241402"/>
          </a:xfrm>
          <a:prstGeom prst="rect">
            <a:avLst/>
          </a:prstGeom>
        </p:spPr>
      </p:pic>
      <p:sp>
        <p:nvSpPr>
          <p:cNvPr id="7" name="Text 4"/>
          <p:cNvSpPr txBox="1"/>
          <p:nvPr/>
        </p:nvSpPr>
        <p:spPr>
          <a:xfrm>
            <a:off x="1600200" y="1755648"/>
            <a:ext cx="4114800" cy="502920"/>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Équipe E&amp;S GOPATECH — en cours de mobilisation</a:t>
            </a:r>
            <a:endParaRPr lang="en-US" sz="1450" dirty="0"/>
          </a:p>
        </p:txBody>
      </p:sp>
      <p:sp>
        <p:nvSpPr>
          <p:cNvPr id="8" name="Text 5"/>
          <p:cNvSpPr txBox="1"/>
          <p:nvPr/>
        </p:nvSpPr>
        <p:spPr>
          <a:xfrm>
            <a:off x="932688" y="2450592"/>
            <a:ext cx="4736592" cy="2926080"/>
          </a:xfrm>
          <a:prstGeom prst="rect">
            <a:avLst/>
          </a:prstGeom>
          <a:noFill/>
          <a:ln/>
        </p:spPr>
        <p:txBody>
          <a:bodyPr wrap="square" lIns="0" tIns="0" rIns="0" bIns="0" rtlCol="0" anchor="t"/>
          <a:lstStyle/>
          <a:p>
            <a:pPr marL="127000" indent="-127000">
              <a:spcAft>
                <a:spcPts val="1000"/>
              </a:spcAft>
              <a:buSzPct val="100000"/>
              <a:buChar char="•"/>
            </a:pPr>
            <a:r>
              <a:rPr lang="en-US" sz="1250" dirty="0">
                <a:solidFill>
                  <a:srgbClr val="20302A"/>
                </a:solidFill>
                <a:latin typeface="Calibri" pitchFamily="34" charset="0"/>
                <a:ea typeface="Calibri" pitchFamily="34" charset="-122"/>
                <a:cs typeface="Calibri" pitchFamily="34" charset="-120"/>
              </a:rPr>
              <a:t>Plan de mobilisation du personnel E&amp;S transmis à l’AFD (action n° 1 de la séance 1).</a:t>
            </a:r>
            <a:endParaRPr lang="en-US" sz="1250" dirty="0"/>
          </a:p>
          <a:p>
            <a:pPr marL="127000" indent="-127000">
              <a:spcAft>
                <a:spcPts val="1000"/>
              </a:spcAft>
              <a:buSzPct val="100000"/>
              <a:buChar char="•"/>
            </a:pPr>
            <a:r>
              <a:rPr lang="en-US" sz="1250" dirty="0">
                <a:solidFill>
                  <a:srgbClr val="20302A"/>
                </a:solidFill>
                <a:latin typeface="Calibri" pitchFamily="34" charset="0"/>
                <a:ea typeface="Calibri" pitchFamily="34" charset="-122"/>
                <a:cs typeface="Calibri" pitchFamily="34" charset="-120"/>
              </a:rPr>
              <a:t>Experts prévus : sauvegarde sociale, sauvegarde environnementale et ornithologue, conformément au dispositif validé.</a:t>
            </a:r>
            <a:endParaRPr lang="en-US" sz="1250" dirty="0"/>
          </a:p>
          <a:p>
            <a:pPr marL="127000" indent="-127000">
              <a:buSzPct val="100000"/>
              <a:buChar char="•"/>
            </a:pPr>
            <a:r>
              <a:rPr lang="en-US" sz="1250" dirty="0">
                <a:solidFill>
                  <a:srgbClr val="20302A"/>
                </a:solidFill>
                <a:latin typeface="Calibri" pitchFamily="34" charset="0"/>
                <a:ea typeface="Calibri" pitchFamily="34" charset="-122"/>
                <a:cs typeface="Calibri" pitchFamily="34" charset="-120"/>
              </a:rPr>
              <a:t>Prise de poste alignée sur le calendrier des études détaillées et la préparation des PRMS par tronçon.</a:t>
            </a:r>
            <a:endParaRPr lang="en-US" sz="1250" dirty="0"/>
          </a:p>
        </p:txBody>
      </p:sp>
      <p:sp>
        <p:nvSpPr>
          <p:cNvPr id="9" name="Shape 6"/>
          <p:cNvSpPr/>
          <p:nvPr/>
        </p:nvSpPr>
        <p:spPr>
          <a:xfrm>
            <a:off x="932688" y="5074920"/>
            <a:ext cx="2560320" cy="310896"/>
          </a:xfrm>
          <a:prstGeom prst="roundRect">
            <a:avLst>
              <a:gd name="adj" fmla="val 50000"/>
            </a:avLst>
          </a:prstGeom>
          <a:solidFill>
            <a:srgbClr val="DDE8CE"/>
          </a:solidFill>
          <a:ln/>
        </p:spPr>
      </p:sp>
      <p:sp>
        <p:nvSpPr>
          <p:cNvPr id="10" name="Text 7"/>
          <p:cNvSpPr txBox="1"/>
          <p:nvPr/>
        </p:nvSpPr>
        <p:spPr>
          <a:xfrm>
            <a:off x="932688" y="5056632"/>
            <a:ext cx="2560320" cy="329184"/>
          </a:xfrm>
          <a:prstGeom prst="rect">
            <a:avLst/>
          </a:prstGeom>
          <a:noFill/>
          <a:ln/>
        </p:spPr>
        <p:txBody>
          <a:bodyPr wrap="square" lIns="0" tIns="0" rIns="0" bIns="0"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Équipe en cours de mobilisation</a:t>
            </a:r>
            <a:endParaRPr lang="en-US" sz="1000" dirty="0"/>
          </a:p>
        </p:txBody>
      </p:sp>
      <p:sp>
        <p:nvSpPr>
          <p:cNvPr id="11" name="Shape 8"/>
          <p:cNvSpPr/>
          <p:nvPr/>
        </p:nvSpPr>
        <p:spPr>
          <a:xfrm>
            <a:off x="6245352" y="1481328"/>
            <a:ext cx="5306263" cy="4114800"/>
          </a:xfrm>
          <a:prstGeom prst="roundRect">
            <a:avLst>
              <a:gd name="adj" fmla="val 2222"/>
            </a:avLst>
          </a:prstGeom>
          <a:solidFill>
            <a:srgbClr val="F4F7EF"/>
          </a:solidFill>
          <a:ln/>
        </p:spPr>
      </p:sp>
      <p:sp>
        <p:nvSpPr>
          <p:cNvPr id="12" name="Shape 9"/>
          <p:cNvSpPr/>
          <p:nvPr/>
        </p:nvSpPr>
        <p:spPr>
          <a:xfrm>
            <a:off x="6519672" y="1755648"/>
            <a:ext cx="502920" cy="502920"/>
          </a:xfrm>
          <a:prstGeom prst="roundRect">
            <a:avLst>
              <a:gd name="adj" fmla="val 22000"/>
            </a:avLst>
          </a:prstGeom>
          <a:solidFill>
            <a:srgbClr val="2C5F2D"/>
          </a:solidFill>
          <a:ln/>
        </p:spPr>
      </p:sp>
      <p:pic>
        <p:nvPicPr>
          <p:cNvPr id="13" name="Image 1" descr="/tmp/claude-0/-home-user-ZION/aed2737c-8fe1-5a52-9c9c-85dc1ebe3ccb/scratchpad/icons/seedling-w.png">    </p:cNvPr>
          <p:cNvPicPr>
            <a:picLocks noChangeAspect="1"/>
          </p:cNvPicPr>
          <p:nvPr/>
        </p:nvPicPr>
        <p:blipFill>
          <a:blip r:embed="rId2"/>
          <a:stretch>
            <a:fillRect/>
          </a:stretch>
        </p:blipFill>
        <p:spPr>
          <a:xfrm>
            <a:off x="6650431" y="1886407"/>
            <a:ext cx="241402" cy="241402"/>
          </a:xfrm>
          <a:prstGeom prst="rect">
            <a:avLst/>
          </a:prstGeom>
        </p:spPr>
      </p:pic>
      <p:sp>
        <p:nvSpPr>
          <p:cNvPr id="14" name="Text 10"/>
          <p:cNvSpPr txBox="1"/>
          <p:nvPr/>
        </p:nvSpPr>
        <p:spPr>
          <a:xfrm>
            <a:off x="7205472" y="1755648"/>
            <a:ext cx="4117543" cy="502920"/>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Reboisement compensatoire (PAB) — cap juillet 2027</a:t>
            </a:r>
            <a:endParaRPr lang="en-US" sz="1450" dirty="0"/>
          </a:p>
        </p:txBody>
      </p:sp>
      <p:sp>
        <p:nvSpPr>
          <p:cNvPr id="15" name="Text 11"/>
          <p:cNvSpPr txBox="1"/>
          <p:nvPr/>
        </p:nvSpPr>
        <p:spPr>
          <a:xfrm>
            <a:off x="6537960" y="2450592"/>
            <a:ext cx="4739335" cy="2926080"/>
          </a:xfrm>
          <a:prstGeom prst="rect">
            <a:avLst/>
          </a:prstGeom>
          <a:noFill/>
          <a:ln/>
        </p:spPr>
        <p:txBody>
          <a:bodyPr wrap="square" lIns="0" tIns="0" rIns="0" bIns="0" rtlCol="0" anchor="t"/>
          <a:lstStyle/>
          <a:p>
            <a:pPr marL="127000" indent="-1270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Contrainte saisonnière : les plantations ne sont pas réalisables avant juillet 2027 (saison des pluies).</a:t>
            </a:r>
            <a:endParaRPr lang="en-US" sz="1250" dirty="0"/>
          </a:p>
          <a:p>
            <a:pPr marL="127000" indent="-1270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La recherche de l’ONG spécialisée est en cours, afin de contractualiser suffisamment tôt.</a:t>
            </a:r>
            <a:endParaRPr lang="en-US" sz="1250" dirty="0"/>
          </a:p>
          <a:p>
            <a:pPr marL="127000" indent="-127000">
              <a:spcAft>
                <a:spcPts val="800"/>
              </a:spcAft>
              <a:buSzPct val="100000"/>
              <a:buChar char="•"/>
            </a:pPr>
            <a:r>
              <a:rPr lang="en-US" sz="1250" dirty="0">
                <a:solidFill>
                  <a:srgbClr val="20302A"/>
                </a:solidFill>
                <a:latin typeface="Calibri" pitchFamily="34" charset="0"/>
                <a:ea typeface="Calibri" pitchFamily="34" charset="-122"/>
                <a:cs typeface="Calibri" pitchFamily="34" charset="-120"/>
              </a:rPr>
              <a:t>Le délai est mis à profit pour préparer la campagne : identification des sites, pépinières, conventions avec les communautés.</a:t>
            </a:r>
            <a:endParaRPr lang="en-US" sz="1250" dirty="0"/>
          </a:p>
          <a:p>
            <a:pPr marL="127000" indent="-127000">
              <a:buSzPct val="100000"/>
              <a:buChar char="•"/>
            </a:pPr>
            <a:r>
              <a:rPr lang="en-US" sz="1250" dirty="0">
                <a:solidFill>
                  <a:srgbClr val="20302A"/>
                </a:solidFill>
                <a:latin typeface="Calibri" pitchFamily="34" charset="0"/>
                <a:ea typeface="Calibri" pitchFamily="34" charset="-122"/>
                <a:cs typeface="Calibri" pitchFamily="34" charset="-120"/>
              </a:rPr>
              <a:t>Surface à ajuster au linéaire réellement défriché sur la section Péla – Diécké (attestation AGEROUTE attendue).</a:t>
            </a:r>
            <a:endParaRPr lang="en-US" sz="1250" dirty="0"/>
          </a:p>
        </p:txBody>
      </p:sp>
      <p:sp>
        <p:nvSpPr>
          <p:cNvPr id="16" name="Shape 12"/>
          <p:cNvSpPr/>
          <p:nvPr/>
        </p:nvSpPr>
        <p:spPr>
          <a:xfrm>
            <a:off x="6537960" y="5074920"/>
            <a:ext cx="2377440" cy="310896"/>
          </a:xfrm>
          <a:prstGeom prst="roundRect">
            <a:avLst>
              <a:gd name="adj" fmla="val 50000"/>
            </a:avLst>
          </a:prstGeom>
          <a:solidFill>
            <a:srgbClr val="FBF1DD"/>
          </a:solidFill>
          <a:ln/>
        </p:spPr>
      </p:sp>
      <p:sp>
        <p:nvSpPr>
          <p:cNvPr id="17" name="Text 13"/>
          <p:cNvSpPr txBox="1"/>
          <p:nvPr/>
        </p:nvSpPr>
        <p:spPr>
          <a:xfrm>
            <a:off x="6537960" y="5056632"/>
            <a:ext cx="2377440" cy="329184"/>
          </a:xfrm>
          <a:prstGeom prst="rect">
            <a:avLst/>
          </a:prstGeom>
          <a:noFill/>
          <a:ln/>
        </p:spPr>
        <p:txBody>
          <a:bodyPr wrap="square" lIns="0" tIns="0" rIns="0" bIns="0" rtlCol="0" anchor="ctr"/>
          <a:lstStyle/>
          <a:p>
            <a:pPr algn="ctr" indent="0" marL="0">
              <a:buNone/>
            </a:pPr>
            <a:r>
              <a:rPr lang="en-US" sz="1000" b="1" dirty="0">
                <a:solidFill>
                  <a:srgbClr val="A9741F"/>
                </a:solidFill>
                <a:latin typeface="Calibri" pitchFamily="34" charset="0"/>
                <a:ea typeface="Calibri" pitchFamily="34" charset="-122"/>
                <a:cs typeface="Calibri" pitchFamily="34" charset="-120"/>
              </a:rPr>
              <a:t>Recherche de l’ONG en cours</a:t>
            </a:r>
            <a:endParaRPr lang="en-US" sz="1000" dirty="0"/>
          </a:p>
        </p:txBody>
      </p:sp>
      <p:sp>
        <p:nvSpPr>
          <p:cNvPr id="18" name="Shape 14"/>
          <p:cNvSpPr/>
          <p:nvPr/>
        </p:nvSpPr>
        <p:spPr>
          <a:xfrm>
            <a:off x="640080" y="5806440"/>
            <a:ext cx="10911535" cy="475488"/>
          </a:xfrm>
          <a:prstGeom prst="roundRect">
            <a:avLst>
              <a:gd name="adj" fmla="val 15385"/>
            </a:avLst>
          </a:prstGeom>
          <a:solidFill>
            <a:srgbClr val="F4F7EF"/>
          </a:solidFill>
          <a:ln/>
        </p:spPr>
      </p:sp>
      <p:sp>
        <p:nvSpPr>
          <p:cNvPr id="19" name="Text 15"/>
          <p:cNvSpPr txBox="1"/>
          <p:nvPr/>
        </p:nvSpPr>
        <p:spPr>
          <a:xfrm>
            <a:off x="914400" y="5806440"/>
            <a:ext cx="10362895" cy="475488"/>
          </a:xfrm>
          <a:prstGeom prst="rect">
            <a:avLst/>
          </a:prstGeom>
          <a:noFill/>
          <a:ln/>
        </p:spPr>
        <p:txBody>
          <a:bodyPr wrap="square" lIns="0" tIns="0" rIns="0" bIns="0"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Aucun impact sur le chemin critique : </a:t>
            </a:r>
            <a:pPr indent="0" marL="0">
              <a:buNone/>
            </a:pPr>
            <a:r>
              <a:rPr lang="en-US" sz="1200" dirty="0">
                <a:solidFill>
                  <a:srgbClr val="20302A"/>
                </a:solidFill>
                <a:latin typeface="Calibri" pitchFamily="34" charset="0"/>
                <a:ea typeface="Calibri" pitchFamily="34" charset="-122"/>
                <a:cs typeface="Calibri" pitchFamily="34" charset="-120"/>
              </a:rPr>
              <a:t>un recrutement de l’ONG finalisé début 2027 permet de tenir la fenêtre de plantation de juillet 2027.</a:t>
            </a:r>
            <a:endParaRPr lang="en-US" sz="1200" dirty="0"/>
          </a:p>
        </p:txBody>
      </p:sp>
      <p:sp>
        <p:nvSpPr>
          <p:cNvPr id="20" name="Text 16"/>
          <p:cNvSpPr txBox="1"/>
          <p:nvPr/>
        </p:nvSpPr>
        <p:spPr>
          <a:xfrm>
            <a:off x="640080" y="6446520"/>
            <a:ext cx="4572000" cy="274320"/>
          </a:xfrm>
          <a:prstGeom prst="rect">
            <a:avLst/>
          </a:prstGeom>
          <a:noFill/>
          <a:ln/>
        </p:spPr>
        <p:txBody>
          <a:bodyPr wrap="square" lIns="0" tIns="0" rIns="0" bIns="0" rtlCol="0" anchor="ctr"/>
          <a:lstStyle/>
          <a:p>
            <a:pPr algn="l" indent="0" marL="0">
              <a:buNone/>
            </a:pPr>
            <a:r>
              <a:rPr lang="en-US" sz="1000" dirty="0">
                <a:solidFill>
                  <a:srgbClr val="6B7A6E"/>
                </a:solidFill>
                <a:latin typeface="Calibri" pitchFamily="34" charset="0"/>
                <a:ea typeface="Calibri" pitchFamily="34" charset="-122"/>
                <a:cs typeface="Calibri" pitchFamily="34" charset="-120"/>
              </a:rPr>
              <a:t>PAAEGF • Volet E&amp;S — Réunion mensuelle № 2</a:t>
            </a:r>
            <a:endParaRPr lang="en-US" sz="1000" dirty="0"/>
          </a:p>
        </p:txBody>
      </p:sp>
      <p:sp>
        <p:nvSpPr>
          <p:cNvPr id="21" name="Text 17"/>
          <p:cNvSpPr txBox="1"/>
          <p:nvPr/>
        </p:nvSpPr>
        <p:spPr>
          <a:xfrm>
            <a:off x="11002975" y="6446520"/>
            <a:ext cx="548640" cy="274320"/>
          </a:xfrm>
          <a:prstGeom prst="rect">
            <a:avLst/>
          </a:prstGeom>
          <a:noFill/>
          <a:ln/>
        </p:spPr>
        <p:txBody>
          <a:bodyPr wrap="square" lIns="0" tIns="0" rIns="0" bIns="0" rtlCol="0" anchor="ctr"/>
          <a:lstStyle/>
          <a:p>
            <a:pPr algn="r" indent="0" marL="0">
              <a:buNone/>
            </a:pPr>
            <a:r>
              <a:rPr lang="en-US" sz="1000" dirty="0">
                <a:solidFill>
                  <a:srgbClr val="6B7A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47472"/>
            <a:ext cx="10911535" cy="274320"/>
          </a:xfrm>
          <a:prstGeom prst="rect">
            <a:avLst/>
          </a:prstGeom>
          <a:noFill/>
          <a:ln/>
        </p:spPr>
        <p:txBody>
          <a:bodyPr wrap="square" lIns="0" tIns="0" rIns="0" bIns="0" rtlCol="0" anchor="ctr"/>
          <a:lstStyle/>
          <a:p>
            <a:pPr indent="0" marL="0">
              <a:buNone/>
            </a:pPr>
            <a:r>
              <a:rPr lang="en-US" sz="1200" b="1" spc="300" kern="0" dirty="0">
                <a:solidFill>
                  <a:srgbClr val="E8A33D"/>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Décisions proposées et prochaines étapes</a:t>
            </a:r>
            <a:endParaRPr lang="en-US" sz="2800" dirty="0"/>
          </a:p>
        </p:txBody>
      </p:sp>
      <p:sp>
        <p:nvSpPr>
          <p:cNvPr id="4" name="Text 2"/>
          <p:cNvSpPr txBox="1"/>
          <p:nvPr/>
        </p:nvSpPr>
        <p:spPr>
          <a:xfrm>
            <a:off x="1207008" y="1371600"/>
            <a:ext cx="6035040" cy="237744"/>
          </a:xfrm>
          <a:prstGeom prst="rect">
            <a:avLst/>
          </a:prstGeom>
          <a:noFill/>
          <a:ln/>
        </p:spPr>
        <p:txBody>
          <a:bodyPr wrap="square" lIns="0" tIns="0" rIns="0" bIns="0" rtlCol="0" anchor="ctr"/>
          <a:lstStyle/>
          <a:p>
            <a:pPr indent="0" marL="0">
              <a:buNone/>
            </a:pPr>
            <a:r>
              <a:rPr lang="en-US" sz="1000" b="1" spc="200" kern="0" dirty="0">
                <a:solidFill>
                  <a:srgbClr val="6B7A6E"/>
                </a:solidFill>
                <a:latin typeface="Calibri" pitchFamily="34" charset="0"/>
                <a:ea typeface="Calibri" pitchFamily="34" charset="-122"/>
                <a:cs typeface="Calibri" pitchFamily="34" charset="-120"/>
              </a:rPr>
              <a:t>ACTION</a:t>
            </a:r>
            <a:endParaRPr lang="en-US" sz="1000" dirty="0"/>
          </a:p>
        </p:txBody>
      </p:sp>
      <p:sp>
        <p:nvSpPr>
          <p:cNvPr id="5" name="Text 3"/>
          <p:cNvSpPr txBox="1"/>
          <p:nvPr/>
        </p:nvSpPr>
        <p:spPr>
          <a:xfrm>
            <a:off x="7424928" y="1371600"/>
            <a:ext cx="1737360" cy="237744"/>
          </a:xfrm>
          <a:prstGeom prst="rect">
            <a:avLst/>
          </a:prstGeom>
          <a:noFill/>
          <a:ln/>
        </p:spPr>
        <p:txBody>
          <a:bodyPr wrap="square" lIns="0" tIns="0" rIns="0" bIns="0" rtlCol="0" anchor="ctr"/>
          <a:lstStyle/>
          <a:p>
            <a:pPr indent="0" marL="0">
              <a:buNone/>
            </a:pPr>
            <a:r>
              <a:rPr lang="en-US" sz="1000" b="1" spc="200" kern="0" dirty="0">
                <a:solidFill>
                  <a:srgbClr val="6B7A6E"/>
                </a:solidFill>
                <a:latin typeface="Calibri" pitchFamily="34" charset="0"/>
                <a:ea typeface="Calibri" pitchFamily="34" charset="-122"/>
                <a:cs typeface="Calibri" pitchFamily="34" charset="-120"/>
              </a:rPr>
              <a:t>RESPONSABLE</a:t>
            </a:r>
            <a:endParaRPr lang="en-US" sz="1000" dirty="0"/>
          </a:p>
        </p:txBody>
      </p:sp>
      <p:sp>
        <p:nvSpPr>
          <p:cNvPr id="6" name="Text 4"/>
          <p:cNvSpPr txBox="1"/>
          <p:nvPr/>
        </p:nvSpPr>
        <p:spPr>
          <a:xfrm>
            <a:off x="9345168" y="1371600"/>
            <a:ext cx="2203704" cy="237744"/>
          </a:xfrm>
          <a:prstGeom prst="rect">
            <a:avLst/>
          </a:prstGeom>
          <a:noFill/>
          <a:ln/>
        </p:spPr>
        <p:txBody>
          <a:bodyPr wrap="square" lIns="0" tIns="0" rIns="0" bIns="0" rtlCol="0" anchor="ctr"/>
          <a:lstStyle/>
          <a:p>
            <a:pPr indent="0" marL="0">
              <a:buNone/>
            </a:pPr>
            <a:r>
              <a:rPr lang="en-US" sz="1000" b="1" spc="200" kern="0" dirty="0">
                <a:solidFill>
                  <a:srgbClr val="6B7A6E"/>
                </a:solidFill>
                <a:latin typeface="Calibri" pitchFamily="34" charset="0"/>
                <a:ea typeface="Calibri" pitchFamily="34" charset="-122"/>
                <a:cs typeface="Calibri" pitchFamily="34" charset="-120"/>
              </a:rPr>
              <a:t>ÉCHÉANCE</a:t>
            </a:r>
            <a:endParaRPr lang="en-US" sz="1000" dirty="0"/>
          </a:p>
        </p:txBody>
      </p:sp>
      <p:sp>
        <p:nvSpPr>
          <p:cNvPr id="7" name="Shape 5"/>
          <p:cNvSpPr/>
          <p:nvPr/>
        </p:nvSpPr>
        <p:spPr>
          <a:xfrm>
            <a:off x="640080" y="1682496"/>
            <a:ext cx="10911535" cy="566928"/>
          </a:xfrm>
          <a:prstGeom prst="roundRect">
            <a:avLst>
              <a:gd name="adj" fmla="val 11290"/>
            </a:avLst>
          </a:prstGeom>
          <a:solidFill>
            <a:srgbClr val="F4F7EF"/>
          </a:solidFill>
          <a:ln/>
        </p:spPr>
      </p:sp>
      <p:sp>
        <p:nvSpPr>
          <p:cNvPr id="8" name="Shape 6"/>
          <p:cNvSpPr/>
          <p:nvPr/>
        </p:nvSpPr>
        <p:spPr>
          <a:xfrm>
            <a:off x="749808" y="1801368"/>
            <a:ext cx="329184" cy="329184"/>
          </a:xfrm>
          <a:prstGeom prst="ellipse">
            <a:avLst/>
          </a:prstGeom>
          <a:solidFill>
            <a:srgbClr val="2C5F2D"/>
          </a:solidFill>
          <a:ln/>
        </p:spPr>
      </p:sp>
      <p:sp>
        <p:nvSpPr>
          <p:cNvPr id="9" name="Text 7"/>
          <p:cNvSpPr txBox="1"/>
          <p:nvPr/>
        </p:nvSpPr>
        <p:spPr>
          <a:xfrm>
            <a:off x="749808" y="17830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207008" y="1682496"/>
            <a:ext cx="6035040" cy="566928"/>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Communiquer le retour de l’AFD sur les plans des documents transmis</a:t>
            </a:r>
            <a:endParaRPr lang="en-US" sz="1150" dirty="0"/>
          </a:p>
        </p:txBody>
      </p:sp>
      <p:sp>
        <p:nvSpPr>
          <p:cNvPr id="11" name="Text 9"/>
          <p:cNvSpPr txBox="1"/>
          <p:nvPr/>
        </p:nvSpPr>
        <p:spPr>
          <a:xfrm>
            <a:off x="7424928" y="1682496"/>
            <a:ext cx="1737360" cy="566928"/>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AFD</a:t>
            </a:r>
            <a:endParaRPr lang="en-US" sz="1150" dirty="0"/>
          </a:p>
        </p:txBody>
      </p:sp>
      <p:sp>
        <p:nvSpPr>
          <p:cNvPr id="12" name="Text 10"/>
          <p:cNvSpPr txBox="1"/>
          <p:nvPr/>
        </p:nvSpPr>
        <p:spPr>
          <a:xfrm>
            <a:off x="9345168" y="1682496"/>
            <a:ext cx="2203704" cy="566928"/>
          </a:xfrm>
          <a:prstGeom prst="rect">
            <a:avLst/>
          </a:prstGeom>
          <a:noFill/>
          <a:ln/>
        </p:spPr>
        <p:txBody>
          <a:bodyPr wrap="square" lIns="0" tIns="0" rIns="0" bIns="0" rtlCol="0" anchor="ctr"/>
          <a:lstStyle/>
          <a:p>
            <a:pPr indent="0" marL="0">
              <a:buNone/>
            </a:pPr>
            <a:r>
              <a:rPr lang="en-US" sz="1150" dirty="0">
                <a:solidFill>
                  <a:srgbClr val="6B7A6E"/>
                </a:solidFill>
                <a:latin typeface="Calibri" pitchFamily="34" charset="0"/>
                <a:ea typeface="Calibri" pitchFamily="34" charset="-122"/>
                <a:cs typeface="Calibri" pitchFamily="34" charset="-120"/>
              </a:rPr>
              <a:t>Septembre 2026</a:t>
            </a:r>
            <a:endParaRPr lang="en-US" sz="1150" dirty="0"/>
          </a:p>
        </p:txBody>
      </p:sp>
      <p:sp>
        <p:nvSpPr>
          <p:cNvPr id="13" name="Shape 11"/>
          <p:cNvSpPr/>
          <p:nvPr/>
        </p:nvSpPr>
        <p:spPr>
          <a:xfrm>
            <a:off x="640080" y="2340864"/>
            <a:ext cx="10911535" cy="566928"/>
          </a:xfrm>
          <a:prstGeom prst="roundRect">
            <a:avLst>
              <a:gd name="adj" fmla="val 11290"/>
            </a:avLst>
          </a:prstGeom>
          <a:solidFill>
            <a:srgbClr val="FBF1DD"/>
          </a:solidFill>
          <a:ln/>
        </p:spPr>
      </p:sp>
      <p:sp>
        <p:nvSpPr>
          <p:cNvPr id="14" name="Shape 12"/>
          <p:cNvSpPr/>
          <p:nvPr/>
        </p:nvSpPr>
        <p:spPr>
          <a:xfrm>
            <a:off x="749808" y="2459736"/>
            <a:ext cx="329184" cy="329184"/>
          </a:xfrm>
          <a:prstGeom prst="ellipse">
            <a:avLst/>
          </a:prstGeom>
          <a:solidFill>
            <a:srgbClr val="E8A33D"/>
          </a:solidFill>
          <a:ln/>
        </p:spPr>
      </p:sp>
      <p:sp>
        <p:nvSpPr>
          <p:cNvPr id="15" name="Text 13"/>
          <p:cNvSpPr txBox="1"/>
          <p:nvPr/>
        </p:nvSpPr>
        <p:spPr>
          <a:xfrm>
            <a:off x="749808" y="244144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Text 14"/>
          <p:cNvSpPr txBox="1"/>
          <p:nvPr/>
        </p:nvSpPr>
        <p:spPr>
          <a:xfrm>
            <a:off x="1207008" y="2340864"/>
            <a:ext cx="6035040" cy="566928"/>
          </a:xfrm>
          <a:prstGeom prst="rect">
            <a:avLst/>
          </a:prstGeom>
          <a:noFill/>
          <a:ln/>
        </p:spPr>
        <p:txBody>
          <a:bodyPr wrap="square" lIns="0" tIns="0" rIns="0" bIns="0" rtlCol="0" anchor="ctr"/>
          <a:lstStyle/>
          <a:p>
            <a:pPr indent="0" marL="0">
              <a:buNone/>
            </a:pPr>
            <a:r>
              <a:rPr lang="en-US" sz="1150" b="1" dirty="0">
                <a:solidFill>
                  <a:srgbClr val="20302A"/>
                </a:solidFill>
                <a:latin typeface="Calibri" pitchFamily="34" charset="0"/>
                <a:ea typeface="Calibri" pitchFamily="34" charset="-122"/>
                <a:cs typeface="Calibri" pitchFamily="34" charset="-120"/>
              </a:rPr>
              <a:t>Délivrer l’ANO sur l’EIES actualisée pour engager la validation nationale (AGEE)</a:t>
            </a:r>
            <a:endParaRPr lang="en-US" sz="1150" dirty="0"/>
          </a:p>
        </p:txBody>
      </p:sp>
      <p:sp>
        <p:nvSpPr>
          <p:cNvPr id="17" name="Text 15"/>
          <p:cNvSpPr txBox="1"/>
          <p:nvPr/>
        </p:nvSpPr>
        <p:spPr>
          <a:xfrm>
            <a:off x="7424928" y="2340864"/>
            <a:ext cx="1737360" cy="566928"/>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AFD</a:t>
            </a:r>
            <a:endParaRPr lang="en-US" sz="1150" dirty="0"/>
          </a:p>
        </p:txBody>
      </p:sp>
      <p:sp>
        <p:nvSpPr>
          <p:cNvPr id="18" name="Text 16"/>
          <p:cNvSpPr txBox="1"/>
          <p:nvPr/>
        </p:nvSpPr>
        <p:spPr>
          <a:xfrm>
            <a:off x="9345168" y="2340864"/>
            <a:ext cx="2203704" cy="566928"/>
          </a:xfrm>
          <a:prstGeom prst="rect">
            <a:avLst/>
          </a:prstGeom>
          <a:noFill/>
          <a:ln/>
        </p:spPr>
        <p:txBody>
          <a:bodyPr wrap="square" lIns="0" tIns="0" rIns="0" bIns="0" rtlCol="0" anchor="ctr"/>
          <a:lstStyle/>
          <a:p>
            <a:pPr indent="0" marL="0">
              <a:buNone/>
            </a:pPr>
            <a:r>
              <a:rPr lang="en-US" sz="1150" b="1" dirty="0">
                <a:solidFill>
                  <a:srgbClr val="A9741F"/>
                </a:solidFill>
                <a:latin typeface="Calibri" pitchFamily="34" charset="0"/>
                <a:ea typeface="Calibri" pitchFamily="34" charset="-122"/>
                <a:cs typeface="Calibri" pitchFamily="34" charset="-120"/>
              </a:rPr>
              <a:t>Priorité — dès que possible</a:t>
            </a:r>
            <a:endParaRPr lang="en-US" sz="1150" dirty="0"/>
          </a:p>
        </p:txBody>
      </p:sp>
      <p:sp>
        <p:nvSpPr>
          <p:cNvPr id="19" name="Shape 17"/>
          <p:cNvSpPr/>
          <p:nvPr/>
        </p:nvSpPr>
        <p:spPr>
          <a:xfrm>
            <a:off x="640080" y="2999232"/>
            <a:ext cx="10911535" cy="566928"/>
          </a:xfrm>
          <a:prstGeom prst="roundRect">
            <a:avLst>
              <a:gd name="adj" fmla="val 11290"/>
            </a:avLst>
          </a:prstGeom>
          <a:solidFill>
            <a:srgbClr val="F4F7EF"/>
          </a:solidFill>
          <a:ln/>
        </p:spPr>
      </p:sp>
      <p:sp>
        <p:nvSpPr>
          <p:cNvPr id="20" name="Shape 18"/>
          <p:cNvSpPr/>
          <p:nvPr/>
        </p:nvSpPr>
        <p:spPr>
          <a:xfrm>
            <a:off x="749808" y="3118104"/>
            <a:ext cx="329184" cy="329184"/>
          </a:xfrm>
          <a:prstGeom prst="ellipse">
            <a:avLst/>
          </a:prstGeom>
          <a:solidFill>
            <a:srgbClr val="2C5F2D"/>
          </a:solidFill>
          <a:ln/>
        </p:spPr>
      </p:sp>
      <p:sp>
        <p:nvSpPr>
          <p:cNvPr id="21" name="Text 19"/>
          <p:cNvSpPr txBox="1"/>
          <p:nvPr/>
        </p:nvSpPr>
        <p:spPr>
          <a:xfrm>
            <a:off x="749808" y="30998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20"/>
          <p:cNvSpPr txBox="1"/>
          <p:nvPr/>
        </p:nvSpPr>
        <p:spPr>
          <a:xfrm>
            <a:off x="1207008" y="2999232"/>
            <a:ext cx="6035040" cy="566928"/>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Rédiger les livrables complets après retour de l’AFD (modèles types, chronogramme PRMS, suivi PGES-C)</a:t>
            </a:r>
            <a:endParaRPr lang="en-US" sz="1150" dirty="0"/>
          </a:p>
        </p:txBody>
      </p:sp>
      <p:sp>
        <p:nvSpPr>
          <p:cNvPr id="23" name="Text 21"/>
          <p:cNvSpPr txBox="1"/>
          <p:nvPr/>
        </p:nvSpPr>
        <p:spPr>
          <a:xfrm>
            <a:off x="7424928" y="2999232"/>
            <a:ext cx="1737360" cy="566928"/>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UGP / MOE</a:t>
            </a:r>
            <a:endParaRPr lang="en-US" sz="1150" dirty="0"/>
          </a:p>
        </p:txBody>
      </p:sp>
      <p:sp>
        <p:nvSpPr>
          <p:cNvPr id="24" name="Text 22"/>
          <p:cNvSpPr txBox="1"/>
          <p:nvPr/>
        </p:nvSpPr>
        <p:spPr>
          <a:xfrm>
            <a:off x="9345168" y="2999232"/>
            <a:ext cx="2203704" cy="566928"/>
          </a:xfrm>
          <a:prstGeom prst="rect">
            <a:avLst/>
          </a:prstGeom>
          <a:noFill/>
          <a:ln/>
        </p:spPr>
        <p:txBody>
          <a:bodyPr wrap="square" lIns="0" tIns="0" rIns="0" bIns="0" rtlCol="0" anchor="ctr"/>
          <a:lstStyle/>
          <a:p>
            <a:pPr indent="0" marL="0">
              <a:buNone/>
            </a:pPr>
            <a:r>
              <a:rPr lang="en-US" sz="1150" dirty="0">
                <a:solidFill>
                  <a:srgbClr val="6B7A6E"/>
                </a:solidFill>
                <a:latin typeface="Calibri" pitchFamily="34" charset="0"/>
                <a:ea typeface="Calibri" pitchFamily="34" charset="-122"/>
                <a:cs typeface="Calibri" pitchFamily="34" charset="-120"/>
              </a:rPr>
              <a:t>30 jours après retour AFD</a:t>
            </a:r>
            <a:endParaRPr lang="en-US" sz="1150" dirty="0"/>
          </a:p>
        </p:txBody>
      </p:sp>
      <p:sp>
        <p:nvSpPr>
          <p:cNvPr id="25" name="Shape 23"/>
          <p:cNvSpPr/>
          <p:nvPr/>
        </p:nvSpPr>
        <p:spPr>
          <a:xfrm>
            <a:off x="640080" y="3657600"/>
            <a:ext cx="10911535" cy="566928"/>
          </a:xfrm>
          <a:prstGeom prst="roundRect">
            <a:avLst>
              <a:gd name="adj" fmla="val 11290"/>
            </a:avLst>
          </a:prstGeom>
          <a:solidFill>
            <a:srgbClr val="F4F7EF"/>
          </a:solidFill>
          <a:ln/>
        </p:spPr>
      </p:sp>
      <p:sp>
        <p:nvSpPr>
          <p:cNvPr id="26" name="Shape 24"/>
          <p:cNvSpPr/>
          <p:nvPr/>
        </p:nvSpPr>
        <p:spPr>
          <a:xfrm>
            <a:off x="749808" y="3776472"/>
            <a:ext cx="329184" cy="329184"/>
          </a:xfrm>
          <a:prstGeom prst="ellipse">
            <a:avLst/>
          </a:prstGeom>
          <a:solidFill>
            <a:srgbClr val="2C5F2D"/>
          </a:solidFill>
          <a:ln/>
        </p:spPr>
      </p:sp>
      <p:sp>
        <p:nvSpPr>
          <p:cNvPr id="27" name="Text 25"/>
          <p:cNvSpPr txBox="1"/>
          <p:nvPr/>
        </p:nvSpPr>
        <p:spPr>
          <a:xfrm>
            <a:off x="749808" y="375818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8" name="Text 26"/>
          <p:cNvSpPr txBox="1"/>
          <p:nvPr/>
        </p:nvSpPr>
        <p:spPr>
          <a:xfrm>
            <a:off x="1207008" y="3657600"/>
            <a:ext cx="6035040" cy="566928"/>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Finaliser la mobilisation de l’équipe E&amp;S de GOPATECH</a:t>
            </a:r>
            <a:endParaRPr lang="en-US" sz="1150" dirty="0"/>
          </a:p>
        </p:txBody>
      </p:sp>
      <p:sp>
        <p:nvSpPr>
          <p:cNvPr id="29" name="Text 27"/>
          <p:cNvSpPr txBox="1"/>
          <p:nvPr/>
        </p:nvSpPr>
        <p:spPr>
          <a:xfrm>
            <a:off x="7424928" y="3657600"/>
            <a:ext cx="1737360" cy="566928"/>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UGP / GOPATECH</a:t>
            </a:r>
            <a:endParaRPr lang="en-US" sz="1150" dirty="0"/>
          </a:p>
        </p:txBody>
      </p:sp>
      <p:sp>
        <p:nvSpPr>
          <p:cNvPr id="30" name="Text 28"/>
          <p:cNvSpPr txBox="1"/>
          <p:nvPr/>
        </p:nvSpPr>
        <p:spPr>
          <a:xfrm>
            <a:off x="9345168" y="3657600"/>
            <a:ext cx="2203704" cy="566928"/>
          </a:xfrm>
          <a:prstGeom prst="rect">
            <a:avLst/>
          </a:prstGeom>
          <a:noFill/>
          <a:ln/>
        </p:spPr>
        <p:txBody>
          <a:bodyPr wrap="square" lIns="0" tIns="0" rIns="0" bIns="0" rtlCol="0" anchor="ctr"/>
          <a:lstStyle/>
          <a:p>
            <a:pPr indent="0" marL="0">
              <a:buNone/>
            </a:pPr>
            <a:r>
              <a:rPr lang="en-US" sz="1150" dirty="0">
                <a:solidFill>
                  <a:srgbClr val="6B7A6E"/>
                </a:solidFill>
                <a:latin typeface="Calibri" pitchFamily="34" charset="0"/>
                <a:ea typeface="Calibri" pitchFamily="34" charset="-122"/>
                <a:cs typeface="Calibri" pitchFamily="34" charset="-120"/>
              </a:rPr>
              <a:t>Septembre 2026</a:t>
            </a:r>
            <a:endParaRPr lang="en-US" sz="1150" dirty="0"/>
          </a:p>
        </p:txBody>
      </p:sp>
      <p:sp>
        <p:nvSpPr>
          <p:cNvPr id="31" name="Shape 29"/>
          <p:cNvSpPr/>
          <p:nvPr/>
        </p:nvSpPr>
        <p:spPr>
          <a:xfrm>
            <a:off x="640080" y="4315968"/>
            <a:ext cx="10911535" cy="566928"/>
          </a:xfrm>
          <a:prstGeom prst="roundRect">
            <a:avLst>
              <a:gd name="adj" fmla="val 11290"/>
            </a:avLst>
          </a:prstGeom>
          <a:solidFill>
            <a:srgbClr val="F4F7EF"/>
          </a:solidFill>
          <a:ln/>
        </p:spPr>
      </p:sp>
      <p:sp>
        <p:nvSpPr>
          <p:cNvPr id="32" name="Shape 30"/>
          <p:cNvSpPr/>
          <p:nvPr/>
        </p:nvSpPr>
        <p:spPr>
          <a:xfrm>
            <a:off x="749808" y="4434840"/>
            <a:ext cx="329184" cy="329184"/>
          </a:xfrm>
          <a:prstGeom prst="ellipse">
            <a:avLst/>
          </a:prstGeom>
          <a:solidFill>
            <a:srgbClr val="2C5F2D"/>
          </a:solidFill>
          <a:ln/>
        </p:spPr>
      </p:sp>
      <p:sp>
        <p:nvSpPr>
          <p:cNvPr id="33" name="Text 31"/>
          <p:cNvSpPr txBox="1"/>
          <p:nvPr/>
        </p:nvSpPr>
        <p:spPr>
          <a:xfrm>
            <a:off x="749808" y="44165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4" name="Text 32"/>
          <p:cNvSpPr txBox="1"/>
          <p:nvPr/>
        </p:nvSpPr>
        <p:spPr>
          <a:xfrm>
            <a:off x="1207008" y="4315968"/>
            <a:ext cx="6035040" cy="566928"/>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Poursuivre la sélection de l’ONG de reboisement compensatoire (PAB)</a:t>
            </a:r>
            <a:endParaRPr lang="en-US" sz="1150" dirty="0"/>
          </a:p>
        </p:txBody>
      </p:sp>
      <p:sp>
        <p:nvSpPr>
          <p:cNvPr id="35" name="Text 33"/>
          <p:cNvSpPr txBox="1"/>
          <p:nvPr/>
        </p:nvSpPr>
        <p:spPr>
          <a:xfrm>
            <a:off x="7424928" y="4315968"/>
            <a:ext cx="1737360" cy="566928"/>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UGP</a:t>
            </a:r>
            <a:endParaRPr lang="en-US" sz="1150" dirty="0"/>
          </a:p>
        </p:txBody>
      </p:sp>
      <p:sp>
        <p:nvSpPr>
          <p:cNvPr id="36" name="Text 34"/>
          <p:cNvSpPr txBox="1"/>
          <p:nvPr/>
        </p:nvSpPr>
        <p:spPr>
          <a:xfrm>
            <a:off x="9345168" y="4315968"/>
            <a:ext cx="2203704" cy="566928"/>
          </a:xfrm>
          <a:prstGeom prst="rect">
            <a:avLst/>
          </a:prstGeom>
          <a:noFill/>
          <a:ln/>
        </p:spPr>
        <p:txBody>
          <a:bodyPr wrap="square" lIns="0" tIns="0" rIns="0" bIns="0" rtlCol="0" anchor="ctr"/>
          <a:lstStyle/>
          <a:p>
            <a:pPr indent="0" marL="0">
              <a:buNone/>
            </a:pPr>
            <a:r>
              <a:rPr lang="en-US" sz="1150" dirty="0">
                <a:solidFill>
                  <a:srgbClr val="6B7A6E"/>
                </a:solidFill>
                <a:latin typeface="Calibri" pitchFamily="34" charset="0"/>
                <a:ea typeface="Calibri" pitchFamily="34" charset="-122"/>
                <a:cs typeface="Calibri" pitchFamily="34" charset="-120"/>
              </a:rPr>
              <a:t>T4 2026</a:t>
            </a:r>
            <a:endParaRPr lang="en-US" sz="1150" dirty="0"/>
          </a:p>
        </p:txBody>
      </p:sp>
      <p:sp>
        <p:nvSpPr>
          <p:cNvPr id="37" name="Shape 35"/>
          <p:cNvSpPr/>
          <p:nvPr/>
        </p:nvSpPr>
        <p:spPr>
          <a:xfrm>
            <a:off x="640080" y="4974336"/>
            <a:ext cx="10911535" cy="566928"/>
          </a:xfrm>
          <a:prstGeom prst="roundRect">
            <a:avLst>
              <a:gd name="adj" fmla="val 11290"/>
            </a:avLst>
          </a:prstGeom>
          <a:solidFill>
            <a:srgbClr val="F4F7EF"/>
          </a:solidFill>
          <a:ln/>
        </p:spPr>
      </p:sp>
      <p:sp>
        <p:nvSpPr>
          <p:cNvPr id="38" name="Shape 36"/>
          <p:cNvSpPr/>
          <p:nvPr/>
        </p:nvSpPr>
        <p:spPr>
          <a:xfrm>
            <a:off x="749808" y="5093208"/>
            <a:ext cx="329184" cy="329184"/>
          </a:xfrm>
          <a:prstGeom prst="ellipse">
            <a:avLst/>
          </a:prstGeom>
          <a:solidFill>
            <a:srgbClr val="2C5F2D"/>
          </a:solidFill>
          <a:ln/>
        </p:spPr>
      </p:sp>
      <p:sp>
        <p:nvSpPr>
          <p:cNvPr id="39" name="Text 37"/>
          <p:cNvSpPr txBox="1"/>
          <p:nvPr/>
        </p:nvSpPr>
        <p:spPr>
          <a:xfrm>
            <a:off x="749808" y="50749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40" name="Text 38"/>
          <p:cNvSpPr txBox="1"/>
          <p:nvPr/>
        </p:nvSpPr>
        <p:spPr>
          <a:xfrm>
            <a:off x="1207008" y="4974336"/>
            <a:ext cx="6035040" cy="566928"/>
          </a:xfrm>
          <a:prstGeom prst="rect">
            <a:avLst/>
          </a:prstGeom>
          <a:noFill/>
          <a:ln/>
        </p:spPr>
        <p:txBody>
          <a:bodyPr wrap="square" lIns="0" tIns="0" rIns="0" bIns="0" rtlCol="0" anchor="ctr"/>
          <a:lstStyle/>
          <a:p>
            <a:pPr indent="0" marL="0">
              <a:buNone/>
            </a:pPr>
            <a:r>
              <a:rPr lang="en-US" sz="1150" dirty="0">
                <a:solidFill>
                  <a:srgbClr val="20302A"/>
                </a:solidFill>
                <a:latin typeface="Calibri" pitchFamily="34" charset="0"/>
                <a:ea typeface="Calibri" pitchFamily="34" charset="-122"/>
                <a:cs typeface="Calibri" pitchFamily="34" charset="-120"/>
              </a:rPr>
              <a:t>Collecter les attestations AGEROUTE et DNEF / OGUIPAR</a:t>
            </a:r>
            <a:endParaRPr lang="en-US" sz="1150" dirty="0"/>
          </a:p>
        </p:txBody>
      </p:sp>
      <p:sp>
        <p:nvSpPr>
          <p:cNvPr id="41" name="Text 39"/>
          <p:cNvSpPr txBox="1"/>
          <p:nvPr/>
        </p:nvSpPr>
        <p:spPr>
          <a:xfrm>
            <a:off x="7424928" y="4974336"/>
            <a:ext cx="1737360" cy="566928"/>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UGP / EDG</a:t>
            </a:r>
            <a:endParaRPr lang="en-US" sz="1150" dirty="0"/>
          </a:p>
        </p:txBody>
      </p:sp>
      <p:sp>
        <p:nvSpPr>
          <p:cNvPr id="42" name="Text 40"/>
          <p:cNvSpPr txBox="1"/>
          <p:nvPr/>
        </p:nvSpPr>
        <p:spPr>
          <a:xfrm>
            <a:off x="9345168" y="4974336"/>
            <a:ext cx="2203704" cy="566928"/>
          </a:xfrm>
          <a:prstGeom prst="rect">
            <a:avLst/>
          </a:prstGeom>
          <a:noFill/>
          <a:ln/>
        </p:spPr>
        <p:txBody>
          <a:bodyPr wrap="square" lIns="0" tIns="0" rIns="0" bIns="0" rtlCol="0" anchor="ctr"/>
          <a:lstStyle/>
          <a:p>
            <a:pPr indent="0" marL="0">
              <a:buNone/>
            </a:pPr>
            <a:r>
              <a:rPr lang="en-US" sz="1150" dirty="0">
                <a:solidFill>
                  <a:srgbClr val="6B7A6E"/>
                </a:solidFill>
                <a:latin typeface="Calibri" pitchFamily="34" charset="0"/>
                <a:ea typeface="Calibri" pitchFamily="34" charset="-122"/>
                <a:cs typeface="Calibri" pitchFamily="34" charset="-120"/>
              </a:rPr>
              <a:t>T4 2026</a:t>
            </a:r>
            <a:endParaRPr lang="en-US" sz="1150" dirty="0"/>
          </a:p>
        </p:txBody>
      </p:sp>
      <p:sp>
        <p:nvSpPr>
          <p:cNvPr id="43" name="Shape 41"/>
          <p:cNvSpPr/>
          <p:nvPr/>
        </p:nvSpPr>
        <p:spPr>
          <a:xfrm>
            <a:off x="640080" y="5678424"/>
            <a:ext cx="10911535" cy="548640"/>
          </a:xfrm>
          <a:prstGeom prst="roundRect">
            <a:avLst>
              <a:gd name="adj" fmla="val 15000"/>
            </a:avLst>
          </a:prstGeom>
          <a:solidFill>
            <a:srgbClr val="16331A"/>
          </a:solidFill>
          <a:ln/>
        </p:spPr>
      </p:sp>
      <p:sp>
        <p:nvSpPr>
          <p:cNvPr id="44" name="Shape 42"/>
          <p:cNvSpPr/>
          <p:nvPr/>
        </p:nvSpPr>
        <p:spPr>
          <a:xfrm>
            <a:off x="868680" y="5760720"/>
            <a:ext cx="384048" cy="384048"/>
          </a:xfrm>
          <a:prstGeom prst="roundRect">
            <a:avLst>
              <a:gd name="adj" fmla="val 22000"/>
            </a:avLst>
          </a:prstGeom>
          <a:solidFill>
            <a:srgbClr val="2C5F2D"/>
          </a:solidFill>
          <a:ln/>
        </p:spPr>
      </p:sp>
      <p:pic>
        <p:nvPicPr>
          <p:cNvPr id="45" name="Image 0" descr="/tmp/claude-0/-home-user-ZION/aed2737c-8fe1-5a52-9c9c-85dc1ebe3ccb/scratchpad/icons/calendar-w.png">    </p:cNvPr>
          <p:cNvPicPr>
            <a:picLocks noChangeAspect="1"/>
          </p:cNvPicPr>
          <p:nvPr/>
        </p:nvPicPr>
        <p:blipFill>
          <a:blip r:embed="rId1"/>
          <a:stretch>
            <a:fillRect/>
          </a:stretch>
        </p:blipFill>
        <p:spPr>
          <a:xfrm>
            <a:off x="968532" y="5860572"/>
            <a:ext cx="184343" cy="184343"/>
          </a:xfrm>
          <a:prstGeom prst="rect">
            <a:avLst/>
          </a:prstGeom>
        </p:spPr>
      </p:pic>
      <p:sp>
        <p:nvSpPr>
          <p:cNvPr id="46" name="Text 43"/>
          <p:cNvSpPr txBox="1"/>
          <p:nvPr/>
        </p:nvSpPr>
        <p:spPr>
          <a:xfrm>
            <a:off x="1417320" y="5678424"/>
            <a:ext cx="9814255"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Prochaine réunion mensuelle E&amp;S — séance 3 : </a:t>
            </a:r>
            <a:pPr indent="0" marL="0">
              <a:buNone/>
            </a:pPr>
            <a:r>
              <a:rPr lang="en-US" sz="1300" b="1" dirty="0">
                <a:solidFill>
                  <a:srgbClr val="E8A33D"/>
                </a:solidFill>
                <a:latin typeface="Calibri" pitchFamily="34" charset="0"/>
                <a:ea typeface="Calibri" pitchFamily="34" charset="-122"/>
                <a:cs typeface="Calibri" pitchFamily="34" charset="-120"/>
              </a:rPr>
              <a:t>jeudi 24 septembre 2026 (à confirmer), en visioconférence.</a:t>
            </a:r>
            <a:endParaRPr lang="en-US" sz="1300" dirty="0"/>
          </a:p>
        </p:txBody>
      </p:sp>
      <p:sp>
        <p:nvSpPr>
          <p:cNvPr id="47" name="Text 44"/>
          <p:cNvSpPr txBox="1"/>
          <p:nvPr/>
        </p:nvSpPr>
        <p:spPr>
          <a:xfrm>
            <a:off x="640080" y="6446520"/>
            <a:ext cx="4572000" cy="274320"/>
          </a:xfrm>
          <a:prstGeom prst="rect">
            <a:avLst/>
          </a:prstGeom>
          <a:noFill/>
          <a:ln/>
        </p:spPr>
        <p:txBody>
          <a:bodyPr wrap="square" lIns="0" tIns="0" rIns="0" bIns="0" rtlCol="0" anchor="ctr"/>
          <a:lstStyle/>
          <a:p>
            <a:pPr algn="l" indent="0" marL="0">
              <a:buNone/>
            </a:pPr>
            <a:r>
              <a:rPr lang="en-US" sz="1000" dirty="0">
                <a:solidFill>
                  <a:srgbClr val="6B7A6E"/>
                </a:solidFill>
                <a:latin typeface="Calibri" pitchFamily="34" charset="0"/>
                <a:ea typeface="Calibri" pitchFamily="34" charset="-122"/>
                <a:cs typeface="Calibri" pitchFamily="34" charset="-120"/>
              </a:rPr>
              <a:t>PAAEGF • Volet E&amp;S — Réunion mensuelle № 2</a:t>
            </a:r>
            <a:endParaRPr lang="en-US" sz="1000" dirty="0"/>
          </a:p>
        </p:txBody>
      </p:sp>
      <p:sp>
        <p:nvSpPr>
          <p:cNvPr id="48" name="Text 45"/>
          <p:cNvSpPr txBox="1"/>
          <p:nvPr/>
        </p:nvSpPr>
        <p:spPr>
          <a:xfrm>
            <a:off x="11002975" y="6446520"/>
            <a:ext cx="548640" cy="274320"/>
          </a:xfrm>
          <a:prstGeom prst="rect">
            <a:avLst/>
          </a:prstGeom>
          <a:noFill/>
          <a:ln/>
        </p:spPr>
        <p:txBody>
          <a:bodyPr wrap="square" lIns="0" tIns="0" rIns="0" bIns="0" rtlCol="0" anchor="ctr"/>
          <a:lstStyle/>
          <a:p>
            <a:pPr algn="r" indent="0" marL="0">
              <a:buNone/>
            </a:pPr>
            <a:r>
              <a:rPr lang="en-US" sz="1000" dirty="0">
                <a:solidFill>
                  <a:srgbClr val="6B7A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2026-08-26T23:23:44Z</dcterms:created>
  <dcterms:modified xsi:type="dcterms:W3CDTF">2026-08-26T23:23:44Z</dcterms:modified>
</cp:coreProperties>
</file>