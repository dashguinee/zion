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35440" y="-2011680"/>
            <a:ext cx="4937760" cy="4937760"/>
          </a:xfrm>
          <a:prstGeom prst="ellipse">
            <a:avLst/>
          </a:prstGeom>
          <a:solidFill>
            <a:srgbClr val="1F4424"/>
          </a:solidFill>
          <a:ln/>
        </p:spPr>
      </p:sp>
      <p:sp>
        <p:nvSpPr>
          <p:cNvPr id="3" name="Shape 1"/>
          <p:cNvSpPr/>
          <p:nvPr/>
        </p:nvSpPr>
        <p:spPr>
          <a:xfrm>
            <a:off x="11064240" y="3108960"/>
            <a:ext cx="3108960" cy="3108960"/>
          </a:xfrm>
          <a:prstGeom prst="ellipse">
            <a:avLst/>
          </a:prstGeom>
          <a:solidFill>
            <a:srgbClr val="1F4424"/>
          </a:solidFill>
          <a:ln/>
        </p:spPr>
      </p:sp>
      <p:sp>
        <p:nvSpPr>
          <p:cNvPr id="4" name="Shape 2"/>
          <p:cNvSpPr/>
          <p:nvPr/>
        </p:nvSpPr>
        <p:spPr>
          <a:xfrm>
            <a:off x="-1188720" y="5120640"/>
            <a:ext cx="2926080" cy="2926080"/>
          </a:xfrm>
          <a:prstGeom prst="ellipse">
            <a:avLst/>
          </a:prstGeom>
          <a:solidFill>
            <a:srgbClr val="1F4424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502920"/>
            <a:ext cx="566928" cy="566928"/>
          </a:xfrm>
          <a:prstGeom prst="roundRect">
            <a:avLst>
              <a:gd name="adj" fmla="val 22000"/>
            </a:avLst>
          </a:prstGeom>
          <a:solidFill>
            <a:srgbClr val="2C5F2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3364" y="627644"/>
            <a:ext cx="317480" cy="3174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141732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 DE CRÉDIT AFD N° CGN 1361 01 P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783080"/>
            <a:ext cx="96926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Suivi de la mise en œuvre des mesures environnementales et sociales</a:t>
            </a:r>
            <a:endParaRPr lang="en-US" sz="34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3310128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FE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Réunion mensuelle E&amp;S UGP PAAEG-F / AFD — 2ᵉ session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3767328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DE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 d’Amélioration de l’Accès à l’Électricité en Guinée Forestière (PAAEGF)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48640" y="4343400"/>
            <a:ext cx="3931920" cy="475488"/>
          </a:xfrm>
          <a:prstGeom prst="roundRect">
            <a:avLst>
              <a:gd name="adj" fmla="val 19231"/>
            </a:avLst>
          </a:prstGeom>
          <a:solidFill>
            <a:srgbClr val="2C5F2D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48640" y="4343400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Jeudi 27 août 2026  •  10 h 00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562356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EMPRUNTEUR</a:t>
            </a:r>
            <a:endParaRPr lang="en-US" sz="95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5888736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République de Guinée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3355848" y="562356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BÉNÉFICIAIRE FINAL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3355848" y="5888736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Électricité de Guinée (EDG)</a:t>
            </a:r>
            <a:endParaRPr lang="en-US" sz="1250" dirty="0"/>
          </a:p>
        </p:txBody>
      </p:sp>
      <p:sp>
        <p:nvSpPr>
          <p:cNvPr id="17" name="Text 14"/>
          <p:cNvSpPr txBox="1"/>
          <p:nvPr/>
        </p:nvSpPr>
        <p:spPr>
          <a:xfrm>
            <a:off x="6163056" y="562356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BAILLEURS</a:t>
            </a:r>
            <a:endParaRPr lang="en-US" sz="950" dirty="0"/>
          </a:p>
        </p:txBody>
      </p:sp>
      <p:sp>
        <p:nvSpPr>
          <p:cNvPr id="18" name="Text 15"/>
          <p:cNvSpPr txBox="1"/>
          <p:nvPr/>
        </p:nvSpPr>
        <p:spPr>
          <a:xfrm>
            <a:off x="6163056" y="5888736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AFD / UE</a:t>
            </a:r>
            <a:endParaRPr lang="en-US" sz="1250" dirty="0"/>
          </a:p>
        </p:txBody>
      </p:sp>
      <p:sp>
        <p:nvSpPr>
          <p:cNvPr id="19" name="Text 16"/>
          <p:cNvSpPr txBox="1"/>
          <p:nvPr/>
        </p:nvSpPr>
        <p:spPr>
          <a:xfrm>
            <a:off x="8970264" y="562356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FINANCEMENT</a:t>
            </a:r>
            <a:endParaRPr lang="en-US" sz="950" dirty="0"/>
          </a:p>
        </p:txBody>
      </p:sp>
      <p:sp>
        <p:nvSpPr>
          <p:cNvPr id="20" name="Text 17"/>
          <p:cNvSpPr txBox="1"/>
          <p:nvPr/>
        </p:nvSpPr>
        <p:spPr>
          <a:xfrm>
            <a:off x="8970264" y="5888736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M€ + 25 M€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DU 27 AOÛT 2026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3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Ordre du jour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527048"/>
            <a:ext cx="402336" cy="402336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5270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170432" y="1481328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3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du compte rendu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1170432" y="1792224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 rendu de la 1ʳᵉ session du 9 juillet 2026.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322576"/>
            <a:ext cx="402336" cy="402336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3225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170432" y="2276856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3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du relevé de décisions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1170432" y="2587752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État d’avancement des six actions arrêtées le 09/07.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118104"/>
            <a:ext cx="402336" cy="402336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31181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170432" y="3072384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3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Restitution des demandes de l’AFD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1170432" y="3383280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Personnel E&amp;S, chronogramme PRMS, ONG PAB, PGES-C urbain, Monts Nimba.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913632"/>
            <a:ext cx="402336" cy="402336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39136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170432" y="3867912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3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critique : ANO de l’AFD sur l’EIES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1170432" y="4178808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Préalable urgent à la validation nationale — analyse de Biotope intégrée.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709160"/>
            <a:ext cx="402336" cy="402336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8640" y="47091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170432" y="4663440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3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Modèles types soumis à validation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1170432" y="4974336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PGES-C type, PRMS type et rapport E&amp;S trimestriel type.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5504688"/>
            <a:ext cx="402336" cy="402336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48640" y="55046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170432" y="5458968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3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 et prochaines étapes</a:t>
            </a:r>
            <a:endParaRPr lang="en-US" sz="1450" dirty="0"/>
          </a:p>
        </p:txBody>
      </p:sp>
      <p:sp>
        <p:nvSpPr>
          <p:cNvPr id="27" name="Text 25"/>
          <p:cNvSpPr txBox="1"/>
          <p:nvPr/>
        </p:nvSpPr>
        <p:spPr>
          <a:xfrm>
            <a:off x="1170432" y="5769864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Jalons à venir, nouvelles actions, date de la prochaine session.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726680" y="1536192"/>
            <a:ext cx="3913632" cy="4480560"/>
          </a:xfrm>
          <a:prstGeom prst="roundRect">
            <a:avLst>
              <a:gd name="adj" fmla="val 2103"/>
            </a:avLst>
          </a:prstGeom>
          <a:solidFill>
            <a:srgbClr val="16331A"/>
          </a:solidFill>
          <a:ln/>
        </p:spPr>
      </p:sp>
      <p:sp>
        <p:nvSpPr>
          <p:cNvPr id="29" name="Shape 27"/>
          <p:cNvSpPr/>
          <p:nvPr/>
        </p:nvSpPr>
        <p:spPr>
          <a:xfrm>
            <a:off x="8092440" y="187452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2C5F2D"/>
          </a:solidFill>
          <a:ln/>
        </p:spPr>
      </p:sp>
      <p:pic>
        <p:nvPicPr>
          <p:cNvPr id="3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93024" y="1975104"/>
            <a:ext cx="256032" cy="256032"/>
          </a:xfrm>
          <a:prstGeom prst="rect">
            <a:avLst/>
          </a:prstGeom>
        </p:spPr>
      </p:pic>
      <p:sp>
        <p:nvSpPr>
          <p:cNvPr id="31" name="Text 28"/>
          <p:cNvSpPr txBox="1"/>
          <p:nvPr/>
        </p:nvSpPr>
        <p:spPr>
          <a:xfrm>
            <a:off x="8092440" y="248716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Objectifs de la session</a:t>
            </a:r>
            <a:endParaRPr lang="en-US" sz="1600" dirty="0"/>
          </a:p>
        </p:txBody>
      </p:sp>
      <p:sp>
        <p:nvSpPr>
          <p:cNvPr id="32" name="Text 29"/>
          <p:cNvSpPr txBox="1"/>
          <p:nvPr/>
        </p:nvSpPr>
        <p:spPr>
          <a:xfrm>
            <a:off x="8092440" y="2926080"/>
            <a:ext cx="32004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CFE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Actualiser le statut de chacune des six actions au 27/08.</a:t>
            </a:r>
            <a:endParaRPr lang="en-US" sz="115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CFE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Recueillir les avis de l’AFD sur les livrables présentés.</a:t>
            </a:r>
            <a:endParaRPr lang="en-US" sz="115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CFE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Faire valider les modèles types proposés par l’UGP.</a:t>
            </a:r>
            <a:endParaRPr lang="en-US" sz="115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CFE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Obtenir la délivrance rapide de l’ANO de l’AFD sur l’EIES.</a:t>
            </a:r>
            <a:endParaRPr lang="en-US" sz="1150" dirty="0"/>
          </a:p>
          <a:p>
            <a:pPr marL="127000" indent="-127000">
              <a:buSzPct val="100000"/>
              <a:buChar char="•"/>
            </a:pPr>
            <a:r>
              <a:rPr lang="en-US" sz="1150" dirty="0">
                <a:solidFill>
                  <a:srgbClr val="CFE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Arrêter les nouvelles actions et leurs échéances.</a:t>
            </a:r>
            <a:endParaRPr lang="en-US" sz="1150" dirty="0"/>
          </a:p>
        </p:txBody>
      </p:sp>
      <p:sp>
        <p:nvSpPr>
          <p:cNvPr id="33" name="Text 30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PAAEGF • Volet E&amp;S — Réunion mensuelle n°2</a:t>
            </a:r>
            <a:endParaRPr lang="en-US" sz="900" dirty="0"/>
          </a:p>
        </p:txBody>
      </p:sp>
      <p:sp>
        <p:nvSpPr>
          <p:cNvPr id="34" name="Text 31"/>
          <p:cNvSpPr txBox="1"/>
          <p:nvPr/>
        </p:nvSpPr>
        <p:spPr>
          <a:xfrm>
            <a:off x="1129284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RAPPEL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3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n°1 du 9 juillet 2026 — l’essentiel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3639312" cy="3520440"/>
          </a:xfrm>
          <a:prstGeom prst="roundRect">
            <a:avLst>
              <a:gd name="adj" fmla="val 2338"/>
            </a:avLst>
          </a:prstGeom>
          <a:solidFill>
            <a:srgbClr val="F4F7EF"/>
          </a:solidFill>
          <a:ln/>
        </p:spPr>
      </p:sp>
      <p:sp>
        <p:nvSpPr>
          <p:cNvPr id="5" name="Shape 3"/>
          <p:cNvSpPr/>
          <p:nvPr/>
        </p:nvSpPr>
        <p:spPr>
          <a:xfrm>
            <a:off x="841248" y="1810512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2C5F2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1890" y="1921154"/>
            <a:ext cx="281635" cy="28163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41248" y="2514600"/>
            <a:ext cx="30540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63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rendez-vous mensuel institué</a:t>
            </a:r>
            <a:endParaRPr lang="en-US" sz="1550" dirty="0"/>
          </a:p>
        </p:txBody>
      </p:sp>
      <p:sp>
        <p:nvSpPr>
          <p:cNvPr id="8" name="Text 5"/>
          <p:cNvSpPr txBox="1"/>
          <p:nvPr/>
        </p:nvSpPr>
        <p:spPr>
          <a:xfrm>
            <a:off x="841248" y="3291840"/>
            <a:ext cx="305409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0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Première session de la réunion mensuelle E&amp;S entre l’UGP PAAEG-F et l’AFD, consacrée à la revue du dispositif de mise en œuvre des mesures E&amp;S du projet.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453128" y="1481328"/>
            <a:ext cx="3639312" cy="3520440"/>
          </a:xfrm>
          <a:prstGeom prst="roundRect">
            <a:avLst>
              <a:gd name="adj" fmla="val 2338"/>
            </a:avLst>
          </a:prstGeom>
          <a:solidFill>
            <a:srgbClr val="F4F7EF"/>
          </a:solidFill>
          <a:ln/>
        </p:spPr>
      </p:sp>
      <p:sp>
        <p:nvSpPr>
          <p:cNvPr id="10" name="Shape 7"/>
          <p:cNvSpPr/>
          <p:nvPr/>
        </p:nvSpPr>
        <p:spPr>
          <a:xfrm>
            <a:off x="4745736" y="1810512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2C5F2D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6378" y="1921154"/>
            <a:ext cx="281635" cy="28163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745736" y="2514600"/>
            <a:ext cx="30540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63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Dispositif E&amp;S passé en revue</a:t>
            </a:r>
            <a:endParaRPr lang="en-US" sz="1550" dirty="0"/>
          </a:p>
        </p:txBody>
      </p:sp>
      <p:sp>
        <p:nvSpPr>
          <p:cNvPr id="13" name="Text 9"/>
          <p:cNvSpPr txBox="1"/>
          <p:nvPr/>
        </p:nvSpPr>
        <p:spPr>
          <a:xfrm>
            <a:off x="4745736" y="3291840"/>
            <a:ext cx="305409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0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Cadre de référence (réglementation guinéenne, exigences AFD/SFI, NES 1 à 10), gouvernance des acteurs, PEES et boîte à outils, jalons contractuels et reporting.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357616" y="1481328"/>
            <a:ext cx="3639312" cy="3520440"/>
          </a:xfrm>
          <a:prstGeom prst="roundRect">
            <a:avLst>
              <a:gd name="adj" fmla="val 2338"/>
            </a:avLst>
          </a:prstGeom>
          <a:solidFill>
            <a:srgbClr val="F4F7EF"/>
          </a:solidFill>
          <a:ln/>
        </p:spPr>
      </p:sp>
      <p:sp>
        <p:nvSpPr>
          <p:cNvPr id="15" name="Shape 11"/>
          <p:cNvSpPr/>
          <p:nvPr/>
        </p:nvSpPr>
        <p:spPr>
          <a:xfrm>
            <a:off x="8650224" y="1810512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2C5F2D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0866" y="1921154"/>
            <a:ext cx="281635" cy="281635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650224" y="2514600"/>
            <a:ext cx="30540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63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actions arrêtées pour le 27/08</a:t>
            </a:r>
            <a:endParaRPr lang="en-US" sz="1550" dirty="0"/>
          </a:p>
        </p:txBody>
      </p:sp>
      <p:sp>
        <p:nvSpPr>
          <p:cNvPr id="18" name="Text 13"/>
          <p:cNvSpPr txBox="1"/>
          <p:nvPr/>
        </p:nvSpPr>
        <p:spPr>
          <a:xfrm>
            <a:off x="8650224" y="3291840"/>
            <a:ext cx="305409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0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Cinq demandes formulées par l’AFD et les modèles types proposés par l’UGP : leur restitution est attendue lors de la présente session.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48640" y="5257800"/>
            <a:ext cx="11091672" cy="777240"/>
          </a:xfrm>
          <a:prstGeom prst="roundRect">
            <a:avLst>
              <a:gd name="adj" fmla="val 10588"/>
            </a:avLst>
          </a:prstGeom>
          <a:solidFill>
            <a:srgbClr val="FBF0DC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868680" y="525780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3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retenir : </a:t>
            </a:r>
            <a:pPr indent="0" marL="0">
              <a:buNone/>
            </a:pPr>
            <a:r>
              <a:rPr lang="en-US" sz="1200" dirty="0">
                <a:solidFill>
                  <a:srgbClr val="20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indemnisations des PAP ne sont pas éligibles au Crédit AFD — elles sont prises en charge par l’État guinéen et versées avant le démarrage des travaux sur chaque tronçon.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PAAEGF • Volet E&amp;S — Réunion mensuelle n°2</a:t>
            </a:r>
            <a:endParaRPr lang="en-US" sz="900" dirty="0"/>
          </a:p>
        </p:txBody>
      </p:sp>
      <p:sp>
        <p:nvSpPr>
          <p:cNvPr id="22" name="Text 17"/>
          <p:cNvSpPr txBox="1"/>
          <p:nvPr/>
        </p:nvSpPr>
        <p:spPr>
          <a:xfrm>
            <a:off x="1129284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DES DÉCISIONS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3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Relevé de décisions du 09/07/2026 — état au 27 août</a:t>
            </a:r>
            <a:endParaRPr lang="en-US" sz="2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81328"/>
          <a:ext cx="11091672" cy="914400"/>
        </p:xfrm>
        <a:graphic>
          <a:graphicData uri="http://schemas.openxmlformats.org/drawingml/2006/table">
            <a:tbl>
              <a:tblPr/>
              <a:tblGrid>
                <a:gridCol w="502920"/>
                <a:gridCol w="5696712"/>
                <a:gridCol w="1783080"/>
                <a:gridCol w="1371600"/>
                <a:gridCol w="173736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N°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Décision / Action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Responsable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Échéance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3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Actualiser le plan de mobilisation du personnel E&amp;S de GOPATECH (CV des experts)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3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UGP / GOPATECH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03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27/08/2026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8A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 cours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3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Établir un chronogramme des 3 PRMS par lot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3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UGP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03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27/08/2026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8A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 cours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E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3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Préparer le recrutement de l’ONG chargée du reboisement compensatoire (PAB)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3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UGP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03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27/08/2026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8A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 cours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3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Affiner le suivi PGES-C en zone très urbanisée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3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UGP / MOE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03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27/08/2026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8A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 cours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E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3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Élaborer les modèles types (PGES-C, PRMS, rapport trimestriel) et les soumettre à l’AFD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3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UGP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03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27/08/2026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8A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 cours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3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Tenir la réunion mensuelle E&amp;S UGP/AFD (institution du dispositif)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3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UGP / AFD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03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27/08/2026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8A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 cours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E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8064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Statuts issus du compte rendu du 09/07/2026 — actualisation et validation attendues en séance.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PAAEGF • Volet E&amp;S — Réunion mensuelle n°2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129284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RESTITUTION — DEMANDES DE L’AFD (1/3)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3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Personnel E&amp;S de la MOE et chronogramme des PRMS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5486400" cy="4023360"/>
          </a:xfrm>
          <a:prstGeom prst="roundRect">
            <a:avLst>
              <a:gd name="adj" fmla="val 2045"/>
            </a:avLst>
          </a:prstGeom>
          <a:solidFill>
            <a:srgbClr val="F4F7EF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828800"/>
            <a:ext cx="1417320" cy="347472"/>
          </a:xfrm>
          <a:prstGeom prst="roundRect">
            <a:avLst>
              <a:gd name="adj" fmla="val 18421"/>
            </a:avLst>
          </a:prstGeom>
          <a:solidFill>
            <a:srgbClr val="2C5F2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82880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DEMANDE 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166360" y="1773936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2C5F2D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77002" y="1884578"/>
            <a:ext cx="281635" cy="281635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68680" y="2395728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3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de mobilisation du personnel E&amp;S de GOPATECH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868680" y="3264408"/>
            <a:ext cx="4800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0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mobilisation actualisé, aligné sur le calendrier de démarrage des travaux</a:t>
            </a:r>
            <a:endParaRPr lang="en-US" sz="1150" dirty="0"/>
          </a:p>
          <a:p>
            <a:pPr marL="127000" indent="-1270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0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des experts — social, environnement, HSE — à transmettre à l’AFD pour validation</a:t>
            </a:r>
            <a:endParaRPr lang="en-US" sz="1150" dirty="0"/>
          </a:p>
          <a:p>
            <a:pPr marL="127000" indent="-127000">
              <a:buSzPct val="100000"/>
              <a:buChar char="•"/>
            </a:pPr>
            <a:r>
              <a:rPr lang="en-US" sz="1150" dirty="0">
                <a:solidFill>
                  <a:srgbClr val="20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Présence effective des experts sur le terrain dès l’ouverture des chantiers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153912" y="1481328"/>
            <a:ext cx="5486400" cy="4023360"/>
          </a:xfrm>
          <a:prstGeom prst="roundRect">
            <a:avLst>
              <a:gd name="adj" fmla="val 2045"/>
            </a:avLst>
          </a:prstGeom>
          <a:solidFill>
            <a:srgbClr val="F4F7EF"/>
          </a:solidFill>
          <a:ln/>
        </p:spPr>
      </p:sp>
      <p:sp>
        <p:nvSpPr>
          <p:cNvPr id="12" name="Shape 9"/>
          <p:cNvSpPr/>
          <p:nvPr/>
        </p:nvSpPr>
        <p:spPr>
          <a:xfrm>
            <a:off x="6473952" y="1828800"/>
            <a:ext cx="1417320" cy="347472"/>
          </a:xfrm>
          <a:prstGeom prst="roundRect">
            <a:avLst>
              <a:gd name="adj" fmla="val 18421"/>
            </a:avLst>
          </a:prstGeom>
          <a:solidFill>
            <a:srgbClr val="2C5F2D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473952" y="182880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DEMANDE 2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10771632" y="1773936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2C5F2D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2274" y="1884578"/>
            <a:ext cx="281635" cy="281635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6473952" y="2395728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3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Chronogramme des 3 PRMS, établi par lot</a:t>
            </a:r>
            <a:endParaRPr lang="en-US" sz="1600" dirty="0"/>
          </a:p>
        </p:txBody>
      </p:sp>
      <p:sp>
        <p:nvSpPr>
          <p:cNvPr id="17" name="Text 13"/>
          <p:cNvSpPr txBox="1"/>
          <p:nvPr/>
        </p:nvSpPr>
        <p:spPr>
          <a:xfrm>
            <a:off x="6473952" y="3264408"/>
            <a:ext cx="4800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0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PRMS par lot, engagé dès la finalisation du design du tronçon concerné</a:t>
            </a:r>
            <a:endParaRPr lang="en-US" sz="1150" dirty="0"/>
          </a:p>
          <a:p>
            <a:pPr marL="127000" indent="-1270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0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Séquence : préparation, validation GOPATECH / EDG / AGEE, puis indemnisation des PAP</a:t>
            </a:r>
            <a:endParaRPr lang="en-US" sz="1150" dirty="0"/>
          </a:p>
          <a:p>
            <a:pPr marL="127000" indent="-127000">
              <a:buSzPct val="100000"/>
              <a:buChar char="•"/>
            </a:pPr>
            <a:r>
              <a:rPr lang="en-US" sz="1150" dirty="0">
                <a:solidFill>
                  <a:srgbClr val="20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Indemnisations versées avant travaux — prises en charge par l’État (CNI)</a:t>
            </a:r>
            <a:endParaRPr lang="en-US" sz="1150" dirty="0"/>
          </a:p>
        </p:txBody>
      </p:sp>
      <p:sp>
        <p:nvSpPr>
          <p:cNvPr id="18" name="Text 14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PAAEGF • Volet E&amp;S — Réunion mensuelle n°2</a:t>
            </a:r>
            <a:endParaRPr lang="en-US" sz="900" dirty="0"/>
          </a:p>
        </p:txBody>
      </p:sp>
      <p:sp>
        <p:nvSpPr>
          <p:cNvPr id="19" name="Text 15"/>
          <p:cNvSpPr txBox="1"/>
          <p:nvPr/>
        </p:nvSpPr>
        <p:spPr>
          <a:xfrm>
            <a:off x="1129284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RESTITUTION — DEMANDES DE L’AFD (2/3)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3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Reboisement compensatoire et PGES-C en zone urbaine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5486400" cy="4023360"/>
          </a:xfrm>
          <a:prstGeom prst="roundRect">
            <a:avLst>
              <a:gd name="adj" fmla="val 2045"/>
            </a:avLst>
          </a:prstGeom>
          <a:solidFill>
            <a:srgbClr val="F4F7EF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828800"/>
            <a:ext cx="1417320" cy="347472"/>
          </a:xfrm>
          <a:prstGeom prst="roundRect">
            <a:avLst>
              <a:gd name="adj" fmla="val 18421"/>
            </a:avLst>
          </a:prstGeom>
          <a:solidFill>
            <a:srgbClr val="2C5F2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82880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DEMANDE 3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166360" y="1773936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2C5F2D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77002" y="1884578"/>
            <a:ext cx="281635" cy="281635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68680" y="2395728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3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Recrutement de l’ONG chargée du reboisement (PAB)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868680" y="3264408"/>
            <a:ext cx="4800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0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Termes de référence et processus de sélection de l’ONG / du cabinet spécialisé</a:t>
            </a:r>
            <a:endParaRPr lang="en-US" sz="1150" dirty="0"/>
          </a:p>
          <a:p>
            <a:pPr marL="127000" indent="-1270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0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Contractualisation avant le démarrage des travaux, en cohérence avec le jalon APAD</a:t>
            </a:r>
            <a:endParaRPr lang="en-US" sz="1150" dirty="0"/>
          </a:p>
          <a:p>
            <a:pPr marL="127000" indent="-127000">
              <a:buSzPct val="100000"/>
              <a:buChar char="•"/>
            </a:pPr>
            <a:r>
              <a:rPr lang="en-US" sz="1150" dirty="0">
                <a:solidFill>
                  <a:srgbClr val="20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Articulation avec le Plan d’Action Biodiversité et le suivi de la reprise des plants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153912" y="1481328"/>
            <a:ext cx="5486400" cy="4023360"/>
          </a:xfrm>
          <a:prstGeom prst="roundRect">
            <a:avLst>
              <a:gd name="adj" fmla="val 2045"/>
            </a:avLst>
          </a:prstGeom>
          <a:solidFill>
            <a:srgbClr val="F4F7EF"/>
          </a:solidFill>
          <a:ln/>
        </p:spPr>
      </p:sp>
      <p:sp>
        <p:nvSpPr>
          <p:cNvPr id="12" name="Shape 9"/>
          <p:cNvSpPr/>
          <p:nvPr/>
        </p:nvSpPr>
        <p:spPr>
          <a:xfrm>
            <a:off x="6473952" y="1828800"/>
            <a:ext cx="1417320" cy="347472"/>
          </a:xfrm>
          <a:prstGeom prst="roundRect">
            <a:avLst>
              <a:gd name="adj" fmla="val 18421"/>
            </a:avLst>
          </a:prstGeom>
          <a:solidFill>
            <a:srgbClr val="2C5F2D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473952" y="182880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DEMANDE 4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10771632" y="1773936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2C5F2D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2274" y="1884578"/>
            <a:ext cx="281635" cy="281635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6473952" y="2395728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3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Suivi PGES-C affiné en zone très urbanisée</a:t>
            </a:r>
            <a:endParaRPr lang="en-US" sz="1600" dirty="0"/>
          </a:p>
        </p:txBody>
      </p:sp>
      <p:sp>
        <p:nvSpPr>
          <p:cNvPr id="17" name="Text 13"/>
          <p:cNvSpPr txBox="1"/>
          <p:nvPr/>
        </p:nvSpPr>
        <p:spPr>
          <a:xfrm>
            <a:off x="6473952" y="3264408"/>
            <a:ext cx="4800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0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Dispositif de suivi renforcé à N’Zérékoré : riverains, circulation, réseaux existants</a:t>
            </a:r>
            <a:endParaRPr lang="en-US" sz="1150" dirty="0"/>
          </a:p>
          <a:p>
            <a:pPr marL="127000" indent="-1270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0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Supervision rapprochée de la MOE et reporting spécifique aux tronçons urbains</a:t>
            </a:r>
            <a:endParaRPr lang="en-US" sz="1150" dirty="0"/>
          </a:p>
          <a:p>
            <a:pPr marL="127000" indent="-127000">
              <a:buSzPct val="100000"/>
              <a:buChar char="•"/>
            </a:pPr>
            <a:r>
              <a:rPr lang="en-US" sz="1150" dirty="0">
                <a:solidFill>
                  <a:srgbClr val="20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Sensibilisation renforcée des populations aux risques électriques</a:t>
            </a:r>
            <a:endParaRPr lang="en-US" sz="1150" dirty="0"/>
          </a:p>
        </p:txBody>
      </p:sp>
      <p:sp>
        <p:nvSpPr>
          <p:cNvPr id="18" name="Text 14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PAAEGF • Volet E&amp;S — Réunion mensuelle n°2</a:t>
            </a:r>
            <a:endParaRPr lang="en-US" sz="900" dirty="0"/>
          </a:p>
        </p:txBody>
      </p:sp>
      <p:sp>
        <p:nvSpPr>
          <p:cNvPr id="19" name="Text 15"/>
          <p:cNvSpPr txBox="1"/>
          <p:nvPr/>
        </p:nvSpPr>
        <p:spPr>
          <a:xfrm>
            <a:off x="1129284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RESTITUTION — DEMANDES DE L’AFD (3/3)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3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 6 — biodiversité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5486400" cy="4023360"/>
          </a:xfrm>
          <a:prstGeom prst="roundRect">
            <a:avLst>
              <a:gd name="adj" fmla="val 2045"/>
            </a:avLst>
          </a:prstGeom>
          <a:solidFill>
            <a:srgbClr val="F4F7EF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828800"/>
            <a:ext cx="1417320" cy="347472"/>
          </a:xfrm>
          <a:prstGeom prst="roundRect">
            <a:avLst>
              <a:gd name="adj" fmla="val 18421"/>
            </a:avLst>
          </a:prstGeom>
          <a:solidFill>
            <a:srgbClr val="2C5F2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82880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DEMANDE 5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166360" y="1773936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2C5F2D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77002" y="1884578"/>
            <a:ext cx="281635" cy="281635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68680" y="2395728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3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Déterminer les délimitations réelles des Monts Nimba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868680" y="3264408"/>
            <a:ext cx="4800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0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Clarification des limites effectives de la réserve des Monts Nimba</a:t>
            </a:r>
            <a:endParaRPr lang="en-US" sz="1150" dirty="0"/>
          </a:p>
          <a:p>
            <a:pPr marL="127000" indent="-1270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0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: évitement total de la zone au titre de la NES 6</a:t>
            </a:r>
            <a:endParaRPr lang="en-US" sz="1150" dirty="0"/>
          </a:p>
          <a:p>
            <a:pPr marL="127000" indent="-127000">
              <a:buSzPct val="100000"/>
              <a:buChar char="•"/>
            </a:pPr>
            <a:r>
              <a:rPr lang="en-US" sz="1150" dirty="0">
                <a:solidFill>
                  <a:srgbClr val="20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Ajustement du tracé et de l’emplacement des supports si nécessaire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153912" y="1481328"/>
            <a:ext cx="5486400" cy="4023360"/>
          </a:xfrm>
          <a:prstGeom prst="roundRect">
            <a:avLst>
              <a:gd name="adj" fmla="val 2045"/>
            </a:avLst>
          </a:prstGeom>
          <a:solidFill>
            <a:srgbClr val="F4F7EF"/>
          </a:solidFill>
          <a:ln/>
        </p:spPr>
      </p:sp>
      <p:sp>
        <p:nvSpPr>
          <p:cNvPr id="12" name="Shape 9"/>
          <p:cNvSpPr/>
          <p:nvPr/>
        </p:nvSpPr>
        <p:spPr>
          <a:xfrm>
            <a:off x="6473952" y="1828800"/>
            <a:ext cx="1417320" cy="347472"/>
          </a:xfrm>
          <a:prstGeom prst="roundRect">
            <a:avLst>
              <a:gd name="adj" fmla="val 18421"/>
            </a:avLst>
          </a:prstGeom>
          <a:solidFill>
            <a:srgbClr val="2C5F2D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473952" y="182880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RAPPEL NES 6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10771632" y="1773936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2C5F2D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2274" y="1884578"/>
            <a:ext cx="281635" cy="281635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6473952" y="2395728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3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Mesures biodiversité déjà prévues par le projet</a:t>
            </a:r>
            <a:endParaRPr lang="en-US" sz="1600" dirty="0"/>
          </a:p>
        </p:txBody>
      </p:sp>
      <p:sp>
        <p:nvSpPr>
          <p:cNvPr id="17" name="Text 13"/>
          <p:cNvSpPr txBox="1"/>
          <p:nvPr/>
        </p:nvSpPr>
        <p:spPr>
          <a:xfrm>
            <a:off x="6473952" y="3264408"/>
            <a:ext cx="4800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0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Optimisation du tracé et de l’emplacement des poteaux béton</a:t>
            </a:r>
            <a:endParaRPr lang="en-US" sz="1150" dirty="0"/>
          </a:p>
          <a:p>
            <a:pPr marL="127000" indent="-1270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0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Réduction de l’impact sur l’avifaune</a:t>
            </a:r>
            <a:endParaRPr lang="en-US" sz="1150" dirty="0"/>
          </a:p>
          <a:p>
            <a:pPr marL="127000" indent="-127000">
              <a:buSzPct val="100000"/>
              <a:buChar char="•"/>
            </a:pPr>
            <a:r>
              <a:rPr lang="en-US" sz="1150" dirty="0">
                <a:solidFill>
                  <a:srgbClr val="20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Reboisement compensatoire conformément aux recommandations de Biotope</a:t>
            </a:r>
            <a:endParaRPr lang="en-US" sz="1150" dirty="0"/>
          </a:p>
        </p:txBody>
      </p:sp>
      <p:sp>
        <p:nvSpPr>
          <p:cNvPr id="18" name="Text 14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PAAEGF • Volet E&amp;S — Réunion mensuelle n°2</a:t>
            </a:r>
            <a:endParaRPr lang="en-US" sz="900" dirty="0"/>
          </a:p>
        </p:txBody>
      </p:sp>
      <p:sp>
        <p:nvSpPr>
          <p:cNvPr id="19" name="Text 15"/>
          <p:cNvSpPr txBox="1"/>
          <p:nvPr/>
        </p:nvSpPr>
        <p:spPr>
          <a:xfrm>
            <a:off x="1129284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CHEMIN CRITIQUE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3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Urgence : ANO de l’AFD sur l’EIES / PGES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6903720" cy="1188720"/>
          </a:xfrm>
          <a:prstGeom prst="roundRect">
            <a:avLst>
              <a:gd name="adj" fmla="val 6923"/>
            </a:avLst>
          </a:prstGeom>
          <a:solidFill>
            <a:srgbClr val="F4F7EF"/>
          </a:solidFill>
          <a:ln/>
        </p:spPr>
      </p:sp>
      <p:sp>
        <p:nvSpPr>
          <p:cNvPr id="5" name="Shape 3"/>
          <p:cNvSpPr/>
          <p:nvPr/>
        </p:nvSpPr>
        <p:spPr>
          <a:xfrm>
            <a:off x="841248" y="1865376"/>
            <a:ext cx="420624" cy="420624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41248" y="18653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481328" y="164592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3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EIES consolidée — analyse de Biotope intégrée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1481328" y="1975104"/>
            <a:ext cx="5760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0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L’étude d’impact environnemental et social intègre l’analyse et les recommandations de Biotope (biodiversité, avifaune, reboisement compensatoire).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 rot="10800000">
            <a:off x="960120" y="2697480"/>
            <a:ext cx="182880" cy="146304"/>
          </a:xfrm>
          <a:prstGeom prst="triangle">
            <a:avLst/>
          </a:prstGeom>
          <a:solidFill>
            <a:srgbClr val="6B7A6E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2871216"/>
            <a:ext cx="6903720" cy="1188720"/>
          </a:xfrm>
          <a:prstGeom prst="roundRect">
            <a:avLst>
              <a:gd name="adj" fmla="val 6923"/>
            </a:avLst>
          </a:prstGeom>
          <a:solidFill>
            <a:srgbClr val="FBF0DC"/>
          </a:solidFill>
          <a:ln/>
        </p:spPr>
      </p:sp>
      <p:sp>
        <p:nvSpPr>
          <p:cNvPr id="11" name="Shape 9"/>
          <p:cNvSpPr/>
          <p:nvPr/>
        </p:nvSpPr>
        <p:spPr>
          <a:xfrm>
            <a:off x="841248" y="3255264"/>
            <a:ext cx="420624" cy="42062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41248" y="32552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481328" y="303580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3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ANO de l’AFD — attendu en urgence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1481328" y="3364992"/>
            <a:ext cx="5760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0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 de non-objection de l’AFD sur l’EIES/PGES : étape bloquante, aucune suite possible tant qu’il n’est pas délivré.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172200" y="3026664"/>
            <a:ext cx="1097280" cy="329184"/>
          </a:xfrm>
          <a:prstGeom prst="roundRect">
            <a:avLst>
              <a:gd name="adj" fmla="val 19444"/>
            </a:avLst>
          </a:prstGeom>
          <a:solidFill>
            <a:srgbClr val="E8A33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172200" y="3026664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ATTENTE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 rot="10800000">
            <a:off x="960120" y="4087368"/>
            <a:ext cx="182880" cy="146304"/>
          </a:xfrm>
          <a:prstGeom prst="triangle">
            <a:avLst/>
          </a:prstGeom>
          <a:solidFill>
            <a:srgbClr val="6B7A6E"/>
          </a:solidFill>
          <a:ln/>
        </p:spPr>
      </p:sp>
      <p:sp>
        <p:nvSpPr>
          <p:cNvPr id="18" name="Shape 16"/>
          <p:cNvSpPr/>
          <p:nvPr/>
        </p:nvSpPr>
        <p:spPr>
          <a:xfrm>
            <a:off x="548640" y="4261104"/>
            <a:ext cx="6903720" cy="1188720"/>
          </a:xfrm>
          <a:prstGeom prst="roundRect">
            <a:avLst>
              <a:gd name="adj" fmla="val 6923"/>
            </a:avLst>
          </a:prstGeom>
          <a:solidFill>
            <a:srgbClr val="F4F7EF"/>
          </a:solidFill>
          <a:ln/>
        </p:spPr>
      </p:sp>
      <p:sp>
        <p:nvSpPr>
          <p:cNvPr id="19" name="Shape 17"/>
          <p:cNvSpPr/>
          <p:nvPr/>
        </p:nvSpPr>
        <p:spPr>
          <a:xfrm>
            <a:off x="841248" y="4645152"/>
            <a:ext cx="420624" cy="420624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41248" y="46451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481328" y="4425696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3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 nationale de l’EIES (AGEE)</a:t>
            </a:r>
            <a:endParaRPr lang="en-US" sz="1450" dirty="0"/>
          </a:p>
        </p:txBody>
      </p:sp>
      <p:sp>
        <p:nvSpPr>
          <p:cNvPr id="22" name="Text 20"/>
          <p:cNvSpPr txBox="1"/>
          <p:nvPr/>
        </p:nvSpPr>
        <p:spPr>
          <a:xfrm>
            <a:off x="1481328" y="4754880"/>
            <a:ext cx="5760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0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 nationale de l’EIES et délivrance du certificat de conformité environnementale — ne peut être engagée qu’après l’ANO.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726680" y="1481328"/>
            <a:ext cx="3913632" cy="3968496"/>
          </a:xfrm>
          <a:prstGeom prst="roundRect">
            <a:avLst>
              <a:gd name="adj" fmla="val 2103"/>
            </a:avLst>
          </a:prstGeom>
          <a:solidFill>
            <a:srgbClr val="16331A"/>
          </a:solidFill>
          <a:ln/>
        </p:spPr>
      </p:sp>
      <p:sp>
        <p:nvSpPr>
          <p:cNvPr id="24" name="Shape 22"/>
          <p:cNvSpPr/>
          <p:nvPr/>
        </p:nvSpPr>
        <p:spPr>
          <a:xfrm>
            <a:off x="8074152" y="1810512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2C5F2D"/>
          </a:solidFill>
          <a:ln/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74736" y="1911096"/>
            <a:ext cx="256032" cy="256032"/>
          </a:xfrm>
          <a:prstGeom prst="rect">
            <a:avLst/>
          </a:prstGeom>
        </p:spPr>
      </p:pic>
      <p:sp>
        <p:nvSpPr>
          <p:cNvPr id="26" name="Text 23"/>
          <p:cNvSpPr txBox="1"/>
          <p:nvPr/>
        </p:nvSpPr>
        <p:spPr>
          <a:xfrm>
            <a:off x="8074152" y="242316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Pourquoi c’est critique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8074152" y="2852928"/>
            <a:ext cx="32461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CFE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située sur le chemin critique du projet : tout report décale le calendrier global.</a:t>
            </a:r>
            <a:endParaRPr lang="en-US" sz="115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CFE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L’ANO sur l’EIES/PGES est une condition suspensive au 1ᵉʳ versement de la Composante 1.</a:t>
            </a:r>
            <a:endParaRPr lang="en-US" sz="1150" dirty="0"/>
          </a:p>
          <a:p>
            <a:pPr marL="127000" indent="-127000">
              <a:buSzPct val="100000"/>
              <a:buChar char="•"/>
            </a:pPr>
            <a:r>
              <a:rPr lang="en-US" sz="1150" dirty="0">
                <a:solidFill>
                  <a:srgbClr val="CFE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Préalable au lancement des travaux et au déroulé des PRMS par tronçon.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548640" y="5687568"/>
            <a:ext cx="11091672" cy="621792"/>
          </a:xfrm>
          <a:prstGeom prst="roundRect">
            <a:avLst>
              <a:gd name="adj" fmla="val 13235"/>
            </a:avLst>
          </a:prstGeom>
          <a:solidFill>
            <a:srgbClr val="FBF0DC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868680" y="5687568"/>
            <a:ext cx="10515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3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Demande à l’AFD : </a:t>
            </a:r>
            <a:pPr indent="0" marL="0">
              <a:buNone/>
            </a:pPr>
            <a:r>
              <a:rPr lang="en-US" sz="1200" dirty="0">
                <a:solidFill>
                  <a:srgbClr val="20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délivrer l’ANO sur l’EIES dans les meilleurs délais afin d’engager sans retard la validation nationale.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PAAEGF • Volet E&amp;S — Réunion mensuelle n°2</a:t>
            </a:r>
            <a:endParaRPr lang="en-US" sz="900" dirty="0"/>
          </a:p>
        </p:txBody>
      </p:sp>
      <p:sp>
        <p:nvSpPr>
          <p:cNvPr id="31" name="Text 28"/>
          <p:cNvSpPr txBox="1"/>
          <p:nvPr/>
        </p:nvSpPr>
        <p:spPr>
          <a:xfrm>
            <a:off x="1129284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PROPOSITION DE L’UGP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3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Modèles types soumis à la validation de l’AFD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3639312" cy="3566160"/>
          </a:xfrm>
          <a:prstGeom prst="roundRect">
            <a:avLst>
              <a:gd name="adj" fmla="val 2308"/>
            </a:avLst>
          </a:prstGeom>
          <a:solidFill>
            <a:srgbClr val="F4F7EF"/>
          </a:solidFill>
          <a:ln/>
        </p:spPr>
      </p:sp>
      <p:sp>
        <p:nvSpPr>
          <p:cNvPr id="5" name="Shape 3"/>
          <p:cNvSpPr/>
          <p:nvPr/>
        </p:nvSpPr>
        <p:spPr>
          <a:xfrm>
            <a:off x="841248" y="1810512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2C5F2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1890" y="1921154"/>
            <a:ext cx="281635" cy="28163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587752" y="1883664"/>
            <a:ext cx="1325880" cy="347472"/>
          </a:xfrm>
          <a:prstGeom prst="roundRect">
            <a:avLst>
              <a:gd name="adj" fmla="val 18421"/>
            </a:avLst>
          </a:prstGeom>
          <a:solidFill>
            <a:srgbClr val="DDE8CE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2587752" y="1883664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AFD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841248" y="2542032"/>
            <a:ext cx="30540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3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PGES-C type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841248" y="3035808"/>
            <a:ext cx="305409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0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Canevas harmonisé du PGES-Constructeur exigé des entreprises de travaux, intégré aux DAO pour lui donner force contractuelle.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453128" y="1481328"/>
            <a:ext cx="3639312" cy="3566160"/>
          </a:xfrm>
          <a:prstGeom prst="roundRect">
            <a:avLst>
              <a:gd name="adj" fmla="val 2308"/>
            </a:avLst>
          </a:prstGeom>
          <a:solidFill>
            <a:srgbClr val="F4F7EF"/>
          </a:solidFill>
          <a:ln/>
        </p:spPr>
      </p:sp>
      <p:sp>
        <p:nvSpPr>
          <p:cNvPr id="12" name="Shape 9"/>
          <p:cNvSpPr/>
          <p:nvPr/>
        </p:nvSpPr>
        <p:spPr>
          <a:xfrm>
            <a:off x="4745736" y="1810512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2C5F2D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6378" y="1921154"/>
            <a:ext cx="281635" cy="281635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492240" y="1883664"/>
            <a:ext cx="1325880" cy="347472"/>
          </a:xfrm>
          <a:prstGeom prst="roundRect">
            <a:avLst>
              <a:gd name="adj" fmla="val 18421"/>
            </a:avLst>
          </a:prstGeom>
          <a:solidFill>
            <a:srgbClr val="DDE8CE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6492240" y="1883664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AFD</a:t>
            </a:r>
            <a:endParaRPr lang="en-US" sz="1000" dirty="0"/>
          </a:p>
        </p:txBody>
      </p:sp>
      <p:sp>
        <p:nvSpPr>
          <p:cNvPr id="16" name="Text 12"/>
          <p:cNvSpPr txBox="1"/>
          <p:nvPr/>
        </p:nvSpPr>
        <p:spPr>
          <a:xfrm>
            <a:off x="4745736" y="2542032"/>
            <a:ext cx="30540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3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PRMS type</a:t>
            </a:r>
            <a:endParaRPr lang="en-US" sz="1700" dirty="0"/>
          </a:p>
        </p:txBody>
      </p:sp>
      <p:sp>
        <p:nvSpPr>
          <p:cNvPr id="17" name="Text 13"/>
          <p:cNvSpPr txBox="1"/>
          <p:nvPr/>
        </p:nvSpPr>
        <p:spPr>
          <a:xfrm>
            <a:off x="4745736" y="3035808"/>
            <a:ext cx="305409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0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Trame commune des Plans de Restauration des Moyens de Subsistance, déclinée par lot : éligibilité, barèmes, chronogramme, suivi.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8357616" y="1481328"/>
            <a:ext cx="3639312" cy="3566160"/>
          </a:xfrm>
          <a:prstGeom prst="roundRect">
            <a:avLst>
              <a:gd name="adj" fmla="val 2308"/>
            </a:avLst>
          </a:prstGeom>
          <a:solidFill>
            <a:srgbClr val="F4F7EF"/>
          </a:solidFill>
          <a:ln/>
        </p:spPr>
      </p:sp>
      <p:sp>
        <p:nvSpPr>
          <p:cNvPr id="19" name="Shape 15"/>
          <p:cNvSpPr/>
          <p:nvPr/>
        </p:nvSpPr>
        <p:spPr>
          <a:xfrm>
            <a:off x="8650224" y="1810512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2C5F2D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0866" y="1921154"/>
            <a:ext cx="281635" cy="281635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10396728" y="1883664"/>
            <a:ext cx="1325880" cy="347472"/>
          </a:xfrm>
          <a:prstGeom prst="roundRect">
            <a:avLst>
              <a:gd name="adj" fmla="val 18421"/>
            </a:avLst>
          </a:prstGeom>
          <a:solidFill>
            <a:srgbClr val="DDE8CE"/>
          </a:solidFill>
          <a:ln/>
        </p:spPr>
      </p:sp>
      <p:sp>
        <p:nvSpPr>
          <p:cNvPr id="22" name="Text 17"/>
          <p:cNvSpPr txBox="1"/>
          <p:nvPr/>
        </p:nvSpPr>
        <p:spPr>
          <a:xfrm>
            <a:off x="10396728" y="1883664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AFD</a:t>
            </a:r>
            <a:endParaRPr lang="en-US" sz="1000" dirty="0"/>
          </a:p>
        </p:txBody>
      </p:sp>
      <p:sp>
        <p:nvSpPr>
          <p:cNvPr id="23" name="Text 18"/>
          <p:cNvSpPr txBox="1"/>
          <p:nvPr/>
        </p:nvSpPr>
        <p:spPr>
          <a:xfrm>
            <a:off x="8650224" y="2542032"/>
            <a:ext cx="30540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3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Rapport trimestriel type</a:t>
            </a:r>
            <a:endParaRPr lang="en-US" sz="1700" dirty="0"/>
          </a:p>
        </p:txBody>
      </p:sp>
      <p:sp>
        <p:nvSpPr>
          <p:cNvPr id="24" name="Text 19"/>
          <p:cNvSpPr txBox="1"/>
          <p:nvPr/>
        </p:nvSpPr>
        <p:spPr>
          <a:xfrm>
            <a:off x="8650224" y="3035808"/>
            <a:ext cx="305409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0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unique du rapport E&amp;S trimestriel transmis à l’AFD sous 30 jours : indicateurs, incidents, plaintes, avancement des mesures.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548640" y="5303520"/>
            <a:ext cx="11091672" cy="777240"/>
          </a:xfrm>
          <a:prstGeom prst="roundRect">
            <a:avLst>
              <a:gd name="adj" fmla="val 10588"/>
            </a:avLst>
          </a:prstGeom>
          <a:solidFill>
            <a:srgbClr val="FBF0DC"/>
          </a:solidFill>
          <a:ln/>
        </p:spPr>
      </p:sp>
      <p:sp>
        <p:nvSpPr>
          <p:cNvPr id="26" name="Text 21"/>
          <p:cNvSpPr txBox="1"/>
          <p:nvPr/>
        </p:nvSpPr>
        <p:spPr>
          <a:xfrm>
            <a:off x="868680" y="53035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3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: </a:t>
            </a:r>
            <a:pPr indent="0" marL="0">
              <a:buNone/>
            </a:pPr>
            <a:r>
              <a:rPr lang="en-US" sz="1200" dirty="0">
                <a:solidFill>
                  <a:srgbClr val="20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accélérer les avis de non-objection, homogénéiser la qualité des livrables E&amp;S et faciliter le travail des entreprises et de la MOE.</a:t>
            </a:r>
            <a:endParaRPr lang="en-US" sz="1200" dirty="0"/>
          </a:p>
        </p:txBody>
      </p:sp>
      <p:sp>
        <p:nvSpPr>
          <p:cNvPr id="27" name="Text 22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PAAEGF • Volet E&amp;S — Réunion mensuelle n°2</a:t>
            </a:r>
            <a:endParaRPr lang="en-US" sz="900" dirty="0"/>
          </a:p>
        </p:txBody>
      </p:sp>
      <p:sp>
        <p:nvSpPr>
          <p:cNvPr id="28" name="Text 23"/>
          <p:cNvSpPr txBox="1"/>
          <p:nvPr/>
        </p:nvSpPr>
        <p:spPr>
          <a:xfrm>
            <a:off x="1129284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PILOTAGE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3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Reporting et jalons à venir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5413248" cy="2176272"/>
          </a:xfrm>
          <a:prstGeom prst="roundRect">
            <a:avLst>
              <a:gd name="adj" fmla="val 3782"/>
            </a:avLst>
          </a:prstGeom>
          <a:solidFill>
            <a:srgbClr val="F4F7EF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773936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2C5F2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" y="1874520"/>
            <a:ext cx="256032" cy="25603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44752" y="1792224"/>
            <a:ext cx="42245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Rapports de suivi E&amp;S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395728"/>
            <a:ext cx="48463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0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Trimestriels pendant les travaux puis semestriels durant les 3 premières années d’exploitation ; transmis à l’AFD sous 30 jours.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227064" y="1481328"/>
            <a:ext cx="5413248" cy="2176272"/>
          </a:xfrm>
          <a:prstGeom prst="roundRect">
            <a:avLst>
              <a:gd name="adj" fmla="val 3782"/>
            </a:avLst>
          </a:prstGeom>
          <a:solidFill>
            <a:srgbClr val="F4F7EF"/>
          </a:solidFill>
          <a:ln/>
        </p:spPr>
      </p:sp>
      <p:sp>
        <p:nvSpPr>
          <p:cNvPr id="10" name="Shape 7"/>
          <p:cNvSpPr/>
          <p:nvPr/>
        </p:nvSpPr>
        <p:spPr>
          <a:xfrm>
            <a:off x="6501384" y="1773936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2C5F2D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1968" y="1874520"/>
            <a:ext cx="256032" cy="25603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123176" y="1792224"/>
            <a:ext cx="42245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Incidents et accidents graves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6501384" y="2395728"/>
            <a:ext cx="48463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0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 de l’AFD sous 48 h, rapport spécifique sous 5 jours, mesures correctives détaillées — y compris les plaintes graves (MGP).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48640" y="3913632"/>
            <a:ext cx="5413248" cy="2176272"/>
          </a:xfrm>
          <a:prstGeom prst="roundRect">
            <a:avLst>
              <a:gd name="adj" fmla="val 3782"/>
            </a:avLst>
          </a:prstGeom>
          <a:solidFill>
            <a:srgbClr val="F4F7EF"/>
          </a:solidFill>
          <a:ln/>
        </p:spPr>
      </p:sp>
      <p:sp>
        <p:nvSpPr>
          <p:cNvPr id="15" name="Shape 11"/>
          <p:cNvSpPr/>
          <p:nvPr/>
        </p:nvSpPr>
        <p:spPr>
          <a:xfrm>
            <a:off x="822960" y="420624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2C5F2D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544" y="4306824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444752" y="4224528"/>
            <a:ext cx="42245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Conditions au 1ᵉʳ versement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822960" y="4828032"/>
            <a:ext cx="48463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0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Composante 1 : ANO de l’AFD sur l’EIES/PGES (en attente — chemin critique) et engagement formel de l’État. Composante 3 : engagement formel d’EDG (plan transformationnel DR Guinée Forestière).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227064" y="3913632"/>
            <a:ext cx="5413248" cy="2176272"/>
          </a:xfrm>
          <a:prstGeom prst="roundRect">
            <a:avLst>
              <a:gd name="adj" fmla="val 3782"/>
            </a:avLst>
          </a:prstGeom>
          <a:solidFill>
            <a:srgbClr val="F4F7EF"/>
          </a:solidFill>
          <a:ln/>
        </p:spPr>
      </p:sp>
      <p:sp>
        <p:nvSpPr>
          <p:cNvPr id="20" name="Shape 15"/>
          <p:cNvSpPr/>
          <p:nvPr/>
        </p:nvSpPr>
        <p:spPr>
          <a:xfrm>
            <a:off x="6501384" y="420624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2C5F2D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1968" y="4306824"/>
            <a:ext cx="256032" cy="25603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123176" y="4224528"/>
            <a:ext cx="42245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Indemnisations des PAP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6501384" y="4828032"/>
            <a:ext cx="48463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0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éligibles au Crédit AFD : prises en charge par l’État guinéen et versées avant le démarrage des travaux, tronçon par tronçon.</a:t>
            </a:r>
            <a:endParaRPr lang="en-US" sz="1100" dirty="0"/>
          </a:p>
        </p:txBody>
      </p:sp>
      <p:sp>
        <p:nvSpPr>
          <p:cNvPr id="24" name="Text 18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PAAEGF • Volet E&amp;S — Réunion mensuelle n°2</a:t>
            </a:r>
            <a:endParaRPr lang="en-US" sz="900" dirty="0"/>
          </a:p>
        </p:txBody>
      </p:sp>
      <p:sp>
        <p:nvSpPr>
          <p:cNvPr id="25" name="Text 19"/>
          <p:cNvSpPr txBox="1"/>
          <p:nvPr/>
        </p:nvSpPr>
        <p:spPr>
          <a:xfrm>
            <a:off x="1129284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63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280" y="-1737360"/>
            <a:ext cx="4023360" cy="4023360"/>
          </a:xfrm>
          <a:prstGeom prst="ellipse">
            <a:avLst/>
          </a:prstGeom>
          <a:solidFill>
            <a:srgbClr val="1F4424"/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937760"/>
            <a:ext cx="3291840" cy="3291840"/>
          </a:xfrm>
          <a:prstGeom prst="ellipse">
            <a:avLst/>
          </a:prstGeom>
          <a:solidFill>
            <a:srgbClr val="1F442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50292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PROCHAINES ÉTAPES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4124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Décisions attendues de la session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420624" cy="420624"/>
          </a:xfrm>
          <a:prstGeom prst="roundRect">
            <a:avLst>
              <a:gd name="adj" fmla="val 22000"/>
            </a:avLst>
          </a:prstGeom>
          <a:solidFill>
            <a:srgbClr val="2C5F2D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1177" y="2012777"/>
            <a:ext cx="235549" cy="235549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188720" y="1920240"/>
            <a:ext cx="6217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Valider le compte rendu de la session du 9 juillet 2026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48640" y="2724912"/>
            <a:ext cx="420624" cy="420624"/>
          </a:xfrm>
          <a:prstGeom prst="roundRect">
            <a:avLst>
              <a:gd name="adj" fmla="val 22000"/>
            </a:avLst>
          </a:prstGeom>
          <a:solidFill>
            <a:srgbClr val="2C5F2D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177" y="2817449"/>
            <a:ext cx="235549" cy="235549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188720" y="2724912"/>
            <a:ext cx="6217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Statuer sur l’état d’avancement des six actions et sur les livrables présentés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548640" y="3529584"/>
            <a:ext cx="420624" cy="420624"/>
          </a:xfrm>
          <a:prstGeom prst="roundRect">
            <a:avLst>
              <a:gd name="adj" fmla="val 22000"/>
            </a:avLst>
          </a:prstGeom>
          <a:solidFill>
            <a:srgbClr val="2C5F2D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177" y="3622121"/>
            <a:ext cx="235549" cy="235549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188720" y="3529584"/>
            <a:ext cx="6217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Acter l’urgence de l’ANO de l’AFD sur l’EIES — préalable à la validation nationale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548640" y="4334256"/>
            <a:ext cx="420624" cy="420624"/>
          </a:xfrm>
          <a:prstGeom prst="roundRect">
            <a:avLst>
              <a:gd name="adj" fmla="val 22000"/>
            </a:avLst>
          </a:prstGeom>
          <a:solidFill>
            <a:srgbClr val="2C5F2D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177" y="4426793"/>
            <a:ext cx="235549" cy="235549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188720" y="4334256"/>
            <a:ext cx="6217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Valider les modèles types : PGES-C, PRMS et rapport E&amp;S trimestriel</a:t>
            </a:r>
            <a:endParaRPr lang="en-US" sz="1400" dirty="0"/>
          </a:p>
        </p:txBody>
      </p:sp>
      <p:sp>
        <p:nvSpPr>
          <p:cNvPr id="18" name="Shape 12"/>
          <p:cNvSpPr/>
          <p:nvPr/>
        </p:nvSpPr>
        <p:spPr>
          <a:xfrm>
            <a:off x="548640" y="5138928"/>
            <a:ext cx="420624" cy="420624"/>
          </a:xfrm>
          <a:prstGeom prst="roundRect">
            <a:avLst>
              <a:gd name="adj" fmla="val 22000"/>
            </a:avLst>
          </a:prstGeom>
          <a:solidFill>
            <a:srgbClr val="2C5F2D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177" y="5231465"/>
            <a:ext cx="235549" cy="235549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1188720" y="5138928"/>
            <a:ext cx="6217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Arrêter les nouvelles actions, leurs responsables et leurs échéances</a:t>
            </a:r>
            <a:endParaRPr lang="en-US" sz="1400" dirty="0"/>
          </a:p>
        </p:txBody>
      </p:sp>
      <p:sp>
        <p:nvSpPr>
          <p:cNvPr id="21" name="Shape 14"/>
          <p:cNvSpPr/>
          <p:nvPr/>
        </p:nvSpPr>
        <p:spPr>
          <a:xfrm>
            <a:off x="7863840" y="1965960"/>
            <a:ext cx="3776472" cy="3429000"/>
          </a:xfrm>
          <a:prstGeom prst="roundRect">
            <a:avLst>
              <a:gd name="adj" fmla="val 2400"/>
            </a:avLst>
          </a:prstGeom>
          <a:solidFill>
            <a:srgbClr val="1F4424"/>
          </a:solidFill>
          <a:ln/>
        </p:spPr>
      </p:sp>
      <p:sp>
        <p:nvSpPr>
          <p:cNvPr id="22" name="Shape 15"/>
          <p:cNvSpPr/>
          <p:nvPr/>
        </p:nvSpPr>
        <p:spPr>
          <a:xfrm>
            <a:off x="8211312" y="2331720"/>
            <a:ext cx="475488" cy="475488"/>
          </a:xfrm>
          <a:prstGeom prst="roundRect">
            <a:avLst>
              <a:gd name="adj" fmla="val 22000"/>
            </a:avLst>
          </a:prstGeom>
          <a:solidFill>
            <a:srgbClr val="2C5F2D"/>
          </a:solidFill>
          <a:ln/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15919" y="2436327"/>
            <a:ext cx="266273" cy="266273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8211312" y="29718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Prochaine session</a:t>
            </a:r>
            <a:endParaRPr lang="en-US" sz="1600" dirty="0"/>
          </a:p>
        </p:txBody>
      </p:sp>
      <p:sp>
        <p:nvSpPr>
          <p:cNvPr id="25" name="Text 17"/>
          <p:cNvSpPr txBox="1"/>
          <p:nvPr/>
        </p:nvSpPr>
        <p:spPr>
          <a:xfrm>
            <a:off x="8211312" y="3401568"/>
            <a:ext cx="3108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CFE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Réunion mensuelle E&amp;S n°3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CFE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 septembre 2026 — date à confirmer en séance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CFE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Visioconférence</a:t>
            </a:r>
            <a:endParaRPr lang="en-US" sz="1200" dirty="0"/>
          </a:p>
        </p:txBody>
      </p:sp>
      <p:sp>
        <p:nvSpPr>
          <p:cNvPr id="26" name="Text 18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PAAEGF • Volet E&amp;S — Réunion mensuelle n°2</a:t>
            </a:r>
            <a:endParaRPr lang="en-US" sz="900" dirty="0"/>
          </a:p>
        </p:txBody>
      </p:sp>
      <p:sp>
        <p:nvSpPr>
          <p:cNvPr id="27" name="Text 19"/>
          <p:cNvSpPr txBox="1"/>
          <p:nvPr/>
        </p:nvSpPr>
        <p:spPr>
          <a:xfrm>
            <a:off x="1129284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2026-08-27T00:16:50Z</dcterms:created>
  <dcterms:modified xsi:type="dcterms:W3CDTF">2026-08-27T00:16:50Z</dcterms:modified>
</cp:coreProperties>
</file>