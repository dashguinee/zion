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011680"/>
            <a:ext cx="4937760" cy="49377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3108960"/>
            <a:ext cx="3108960" cy="31089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276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417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DE CRÉDIT AFD N° CGN 1361 01 P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783080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 la mise en œuvre des mesures environnementales et sociales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012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mensuelle E&amp;S UGP PAAEG-F / AFD — 2ᵉ session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767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d’Amélioration de l’Accès à l’Électricité en Guinée Forestière (PAAEGF)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5257800" cy="475488"/>
          </a:xfrm>
          <a:prstGeom prst="roundRect">
            <a:avLst>
              <a:gd name="adj" fmla="val 19231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434340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27 août 2026  •  10 h 00  •  Visioconférence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EMPRUNTEUR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de Guinée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355848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BÉNÉFICIAIRE FINAL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355848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de Guinée (EDG)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163056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163056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 / UE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970264" y="5623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970264" y="58887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M€ + 25 M€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 27 AOÛT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Ordre du jour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361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compte rendu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8470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rendu de la 1ʳᵉ session du 9 juillet 2026.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46888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du relevé de décisions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77977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d’avancement des six actions arrêtées le 09/07.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47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4015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des demandes de l’AFD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1246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E&amp;S, chronogramme PRMS, ONG PAB, PGES-C urbain, Monts Nimba.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3425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types soumis à validation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64515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PGES-C type, PRMS type et rapport E&amp;S trimestriel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12664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12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26694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et prochaines étapes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5577840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à venir, nouvelles actions, date de la prochaine session.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1536192"/>
            <a:ext cx="3913632" cy="4480560"/>
          </a:xfrm>
          <a:prstGeom prst="roundRect">
            <a:avLst>
              <a:gd name="adj" fmla="val 2103"/>
            </a:avLst>
          </a:prstGeom>
          <a:solidFill>
            <a:srgbClr val="16331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4" y="1975104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09244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session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092440" y="29260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Actualiser le statut de chacune des six actions au 27/08.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les avis de l’AFD sur les livrables présentés.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valider les modèles types proposés par l’UGP.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les nouvelles actions et leurs échéances.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n°1 du 9 juillet 2026 — l’essentiel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921154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rendez-vous mensuel institué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session de la réunion mensuelle E&amp;S entre l’UGP PAAEG-F et l’AFD, consacrée à la revue du dispositif de mise en œuvre des mesures E&amp;S du projet.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53128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10" name="Shape 7"/>
          <p:cNvSpPr/>
          <p:nvPr/>
        </p:nvSpPr>
        <p:spPr>
          <a:xfrm>
            <a:off x="474573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78" y="1921154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45736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Dispositif E&amp;S passé en revue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45736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de référence (réglementation guinéenne, exigences AFD/SFI, NES 1 à 10), gouvernance des acteurs, PEES et boîte à outils, jalons contractuels et reporting.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57616" y="1481328"/>
            <a:ext cx="3639312" cy="3520440"/>
          </a:xfrm>
          <a:prstGeom prst="roundRect">
            <a:avLst>
              <a:gd name="adj" fmla="val 2338"/>
            </a:avLst>
          </a:prstGeom>
          <a:solidFill>
            <a:srgbClr val="F4F7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65022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866" y="192115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50224" y="2514600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arrêtées pour le 27/08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50224" y="3291840"/>
            <a:ext cx="3054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demandes formulées par l’AFD et les modèles types proposés par l’UGP : leur restitution est attendue lors de la présente session.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F0D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pPr indent="0" marL="0"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indemnisations des PAP ne sont pas éligibles au Crédit AFD — elles sont prises en charge par l’État guinéen et versées avant le démarrage des travaux sur chaque tronçon.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DÉCISIONS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Relevé de décisions du 09/07/2026 — état au 27 août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696712"/>
                <a:gridCol w="1783080"/>
                <a:gridCol w="1371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/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Échéance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Actualiser le plan de mobilisation du personnel E&amp;S de GOPATECH (CV des experts)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GOPATECH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Établir un chronogramme des 3 PRMS par 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Préparer le recrutement de l’ONG chargée du reboisement compensatoire (PAB)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Affiner le suivi PGES-C en zone très urbanisée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MOE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Élaborer les modèles types (PGES-C, PRMS, rapport trimestriel) et les soumettre à l’AFD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Tenir la réunion mensuelle E&amp;S UGP/AFD (institution du dispositif)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UGP / AFD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E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issus du compte rendu du 09/07/2026 — actualisation et validation attendues en séance.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(1/3)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Personnel E&amp;S de la MOE et chronogramme des PRMS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mobilisation du personnel E&amp;S de GOPATECH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mobilisation actualisé, aligné sur le calendrier de démarrage des travaux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des experts — social, environnement, ornithologue — transmis pour validation de l’AFD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effective des experts sur le terrain dès l’ouverture des chantiers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Chronogramme des 3 PRMS, établi par lot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PRMS par lot, engagé dès la finalisation du design du tronçon concerné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: préparation, validation GOPATECH / EDG / AGEE, puis indemnisation des PAP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Indemnisations versées avant travaux — prises en charge par l’État (appui CNI)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(2/3)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Reboisement compensatoire et PGES-C en zone urbaine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Recrutement de l’ONG chargée du reboisement (PAB)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de référence et processus de sélection de l’ONG / du cabinet spécialisé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Contractualisation avant le démarrage des travaux, en cohérence avec le jalon APAD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Articulation avec le Plan d’Action Biodiversité et le suivi de la reprise des plants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PGES-C affiné en zone très urbanisée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de suivi renforcé à N’Zérékoré : riverains, circulation, réseaux existants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rapprochée de la MOE et reporting spécifique aux tronçons urbains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renforcée des populations aux risques électriques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— DEMANDES DE L’AFD (3/3)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Délimitations des Monts Nimba (NES 6 — biodiversité)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166360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7002" y="1884578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Déterminer les délimitations réelles des Monts Nimba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 des limites effectives de la réserve des Monts Nimba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évitement total de la zone au titre de la NES 6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du tracé et de l’emplacement des supports si nécessaire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53912" y="1481328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6473952" y="18288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73952" y="18288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NES 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771632" y="177393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2274" y="1884578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73952" y="2395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Mesures biodiversité déjà prévues par le projet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73952" y="3264408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tracé et de l’emplacement des pylônes (forêts classées)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l’impact sur l’avifaune (Diécké, Mont Béro)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Reboisement compensatoire ; partage des données via la base mondiale GBIF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L’UGP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types soumis à la validation de l’AFD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921154"/>
            <a:ext cx="281635" cy="28163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87752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87752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PGES-C type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Canevas harmonisé du PGES-Constructeur exigé des entreprises de travaux, intégré aux DAO pour lui donner force contractuelle.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53128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12" name="Shape 9"/>
          <p:cNvSpPr/>
          <p:nvPr/>
        </p:nvSpPr>
        <p:spPr>
          <a:xfrm>
            <a:off x="4745736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378" y="1921154"/>
            <a:ext cx="281635" cy="28163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92240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92240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745736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PRMS type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745736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Trame commune des Plans de Restauration des Moyens de Subsistance, déclinée par lot : éligibilité, barèmes, chronogramme, suivi.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357616" y="1481328"/>
            <a:ext cx="3639312" cy="3566160"/>
          </a:xfrm>
          <a:prstGeom prst="roundRect">
            <a:avLst>
              <a:gd name="adj" fmla="val 2308"/>
            </a:avLst>
          </a:prstGeom>
          <a:solidFill>
            <a:srgbClr val="F4F7EF"/>
          </a:solidFill>
          <a:ln/>
        </p:spPr>
      </p:sp>
      <p:sp>
        <p:nvSpPr>
          <p:cNvPr id="19" name="Shape 15"/>
          <p:cNvSpPr/>
          <p:nvPr/>
        </p:nvSpPr>
        <p:spPr>
          <a:xfrm>
            <a:off x="8650224" y="181051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866" y="1921154"/>
            <a:ext cx="281635" cy="28163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396728" y="1883664"/>
            <a:ext cx="1325880" cy="347472"/>
          </a:xfrm>
          <a:prstGeom prst="roundRect">
            <a:avLst>
              <a:gd name="adj" fmla="val 18421"/>
            </a:avLst>
          </a:prstGeom>
          <a:solidFill>
            <a:srgbClr val="DDE8CE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10396728" y="18836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AFD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650224" y="254203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trimestriel type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650224" y="3035808"/>
            <a:ext cx="3054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unique du rapport E&amp;S trimestriel transmis à l’AFD sous 30 jours : indicateurs, incidents, plaintes, avancement des mesures.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BF0DC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868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2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les avis de non-objection, homogénéiser la qualité des livrables E&amp;S et faciliter le travail des entreprises et de la MOE.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et jalons à venir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739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792224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Rapports de suivi E&amp;S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Trimestriels pendant les travaux puis semestriels durant les 3 premières années d’exploitation ; transmis à l’AFD sous 30 jours.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27064" y="1481328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10" name="Shape 7"/>
          <p:cNvSpPr/>
          <p:nvPr/>
        </p:nvSpPr>
        <p:spPr>
          <a:xfrm>
            <a:off x="6501384" y="17739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745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23176" y="1792224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Incidents et accidents graves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395728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de l’AFD sous 48 h, rapport spécifique sous 5 jours, mesures correctives détaillées — y compris les plaintes graves (MGP).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13632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068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44752" y="422452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au 1ᵉʳ versement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828032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Composante 1 : ANO de l’AFD sur l’EIES/PGES et engagement formel de l’État. Composante 3 : engagement formel d’EDG (plan transformationnel DR Guinée Forestière).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27064" y="3913632"/>
            <a:ext cx="5413248" cy="2176272"/>
          </a:xfrm>
          <a:prstGeom prst="roundRect">
            <a:avLst>
              <a:gd name="adj" fmla="val 3782"/>
            </a:avLst>
          </a:prstGeom>
          <a:solidFill>
            <a:srgbClr val="F4F7EF"/>
          </a:solidFill>
          <a:ln/>
        </p:spPr>
      </p:sp>
      <p:sp>
        <p:nvSpPr>
          <p:cNvPr id="20" name="Shape 15"/>
          <p:cNvSpPr/>
          <p:nvPr/>
        </p:nvSpPr>
        <p:spPr>
          <a:xfrm>
            <a:off x="6501384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306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23176" y="4224528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Indemnisations des PAP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501384" y="4828032"/>
            <a:ext cx="48463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0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éligibles au Crédit AFD : prises en charge par l’État guinéen et versées avant le démarrage des travaux, tronçon par tronçon.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737360"/>
            <a:ext cx="4023360" cy="402336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solidFill>
            <a:srgbClr val="1F442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Décisions attendues de la session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2058497"/>
            <a:ext cx="235549" cy="2355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96596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compte rendu de la session du 9 juillet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77" y="2954609"/>
            <a:ext cx="235549" cy="2355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862072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Statuer sur l’état d’avancement des six actions et sur les livrables présentés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758184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77" y="3850721"/>
            <a:ext cx="235549" cy="23554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75818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modèles types : PGES-C, PRMS et rapport E&amp;S trimestriel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654296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77" y="4746833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65429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les nouvelles actions, leurs responsables et leurs échéances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863840" y="1965960"/>
            <a:ext cx="3776472" cy="3429000"/>
          </a:xfrm>
          <a:prstGeom prst="roundRect">
            <a:avLst>
              <a:gd name="adj" fmla="val 2400"/>
            </a:avLst>
          </a:prstGeom>
          <a:solidFill>
            <a:srgbClr val="1F4424"/>
          </a:solidFill>
          <a:ln/>
        </p:spPr>
      </p:sp>
      <p:sp>
        <p:nvSpPr>
          <p:cNvPr id="19" name="Shape 13"/>
          <p:cNvSpPr/>
          <p:nvPr/>
        </p:nvSpPr>
        <p:spPr>
          <a:xfrm>
            <a:off x="8211312" y="23317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2C5F2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919" y="2436327"/>
            <a:ext cx="266273" cy="26627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11312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 session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211312" y="340156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mensuelle E&amp;S n°3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septembre 2026 — date à confirmer en séance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Visioconférence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PAAEGF • Volet E&amp;S — Réunion mensuelle n°2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29284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2026-08-26T23:50:53Z</dcterms:created>
  <dcterms:modified xsi:type="dcterms:W3CDTF">2026-08-26T23:50:53Z</dcterms:modified>
</cp:coreProperties>
</file>